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6256000" cy="9144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highlights the significant economic impact of Artificial Intelligence on Denver. By 2030, AI is expected to contribute $15 billion to the local economy, a threefold increase from its current $5 billion contribution. This substantial growth is attributed to burgeoning investment in AI startups and the strategic expansion of established tech firms leveraging AI capabilities. Denver is solidifying its position as a burgeoning center for AI innovation and development.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highlights the significant impact of AI on Denver's job market. We are projecting the creation of 20,000 new AI-related positions by 2028, encompassing diverse roles from technical specialists like AI researchers and data scientists to crucial positions like AI ethics officers and prompt engineers. Furthermore, a substantial 40% of current jobs will require adaptation to integrate AI-driven processes. This underscores the critical need for upskilling and reskilling initiatives to prepare the workforce for these changes and ensure continued economic growth.</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highlights the broad impact of AI across Denver's primary industries. We see significant advancements in healthcare, with AI expected to improve efficiency by 25% by 2027 through enhanced diagnostics and personalized medicine. In finance, AI is crucial for fraud detection and trading, offering an estimated 15% improvement in security and speed. The real estate sector is also benefiting, as AI transforms property management and market analysis, leading to more precise valuations and streamlined transactions. These examples demonstrate AI's integral role in Denver's economic diversification and future growth.</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Denver is rapidly becoming a significant hub for artificial intelligence innovation. The city benefits from the presence of three major AI research institutions and hosts over 150 AI startups. This vibrant ecosystem has attracted substantial venture capital, with $500 million invested in local AI companies over the past year. This investment underscores Denver's potential and commitment to fostering AI development and attracting top talent in the field.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 we embrace AI, we must acknowledge the hurdles ahead. Automation poses a risk to 10-15% of jobs, especially those that are routine. Data privacy is paramount as AI systems handle vast amounts of personal information. Critically, we must address algorithmic bias to ensure AI promotes fairness and equity, not discrimination. These ethical considerations are vital for responsible AI deployment.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highlights Denver's commitment to building the digital infrastructure necessary for the AI revolution. A key initiative is expanding high-speed internet access, with a target of 95% broadband coverage by 2026. This investment is vital for meeting the computational demands of AI and enabling its widespread adoption across various sectors in Denver.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outlines Denver's proactive approach to AI. We are focusing on two critical areas: establishing robust AI ethics guidelines to ensure responsible innovation and implementing reskilling grants to support our workforce through this technological shift. Our goal is to foster an inclusive AI future for all Denver residents.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outlines Denver's bright future in Artificial Intelligence. We are projecting a 200% growth in the AI sector over the next ten years. This expansion is fueled by strategic investments, supportive policies, and a dedicated focus on developing a skilled AI workforce. This initiative will not only drive technological advancement but also foster significant economic prosperity for the city.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1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13.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600" y="101600"/>
            <a:ext cx="7950200" cy="1498600"/>
          </a:xfrm>
          <a:prstGeom prst="rect">
            <a:avLst/>
          </a:prstGeom>
          <a:noFill/>
        </p:spPr>
        <p:txBody>
          <a:bodyPr wrap="square" lIns="0" rIns="0" tIns="0" bIns="0">
            <a:spAutoFit/>
          </a:bodyPr>
          <a:lstStyle/>
          <a:p>
            <a:pPr algn="l">
              <a:lnSpc>
                <a:spcPct val="75000"/>
              </a:lnSpc>
              <a:defRPr i="0" sz="5600" b="1">
                <a:solidFill>
                  <a:srgbClr val="111827"/>
                </a:solidFill>
                <a:latin typeface="Albert Sans"/>
              </a:defRPr>
            </a:pPr>
            <a:r>
              <a:rPr i="0" sz="5600" b="1">
                <a:solidFill>
                  <a:srgbClr val="111827"/>
                </a:solidFill>
                <a:latin typeface="Albert Sans"/>
              </a:rPr>
              <a:t>AI's Growing Economic Footprint in Denver</a:t>
            </a:r>
          </a:p>
        </p:txBody>
      </p:sp>
      <p:sp>
        <p:nvSpPr>
          <p:cNvPr id="3" name="TextBox 2"/>
          <p:cNvSpPr txBox="1"/>
          <p:nvPr/>
        </p:nvSpPr>
        <p:spPr>
          <a:xfrm>
            <a:off x="9042400" y="101600"/>
            <a:ext cx="6629400" cy="304800"/>
          </a:xfrm>
          <a:prstGeom prst="rect">
            <a:avLst/>
          </a:prstGeom>
          <a:noFill/>
        </p:spPr>
        <p:txBody>
          <a:bodyPr wrap="square" lIns="0" rIns="0" tIns="0" bIns="0">
            <a:spAutoFit/>
          </a:bodyPr>
          <a:lstStyle/>
          <a:p>
            <a:pPr algn="l">
              <a:defRPr i="0" sz="1600" b="1">
                <a:solidFill>
                  <a:srgbClr val="111827"/>
                </a:solidFill>
                <a:latin typeface="Albert Sans"/>
              </a:defRPr>
            </a:pPr>
            <a:r>
              <a:rPr i="0" sz="1600" b="1">
                <a:solidFill>
                  <a:srgbClr val="111827"/>
                </a:solidFill>
                <a:latin typeface="Albert Sans"/>
              </a:rPr>
              <a:t>Denver's AI Economy</a:t>
            </a:r>
          </a:p>
        </p:txBody>
      </p:sp>
      <p:sp>
        <p:nvSpPr>
          <p:cNvPr id="4" name="TextBox 3"/>
          <p:cNvSpPr txBox="1"/>
          <p:nvPr/>
        </p:nvSpPr>
        <p:spPr>
          <a:xfrm>
            <a:off x="9042400" y="508000"/>
            <a:ext cx="6629400" cy="850900"/>
          </a:xfrm>
          <a:prstGeom prst="rect">
            <a:avLst/>
          </a:prstGeom>
          <a:noFill/>
        </p:spPr>
        <p:txBody>
          <a:bodyPr wrap="square" lIns="0" rIns="0" tIns="0" bIns="0">
            <a:spAutoFit/>
          </a:bodyPr>
          <a:lstStyle/>
          <a:p>
            <a:pPr algn="l">
              <a:lnSpc>
                <a:spcPct val="130000"/>
              </a:lnSpc>
              <a:defRPr i="0" sz="1400" b="0">
                <a:solidFill>
                  <a:srgbClr val="6B7280"/>
                </a:solidFill>
                <a:latin typeface="Albert Sans"/>
              </a:defRPr>
            </a:pPr>
            <a:r>
              <a:rPr i="0" sz="1400" b="0">
                <a:solidFill>
                  <a:srgbClr val="6B7280"/>
                </a:solidFill>
                <a:latin typeface="Albert Sans"/>
              </a:rPr>
              <a:t>Denver is positioned to become a major hub for AI innovation and economic growth. The projected increase in AI's contribution to the metro economy signifies a transformative period, attracting talent and investment.</a:t>
            </a:r>
          </a:p>
        </p:txBody>
      </p:sp>
      <p:sp>
        <p:nvSpPr>
          <p:cNvPr id="5" name="Rounded Rectangle 4"/>
          <p:cNvSpPr/>
          <p:nvPr/>
        </p:nvSpPr>
        <p:spPr>
          <a:xfrm>
            <a:off x="3403600" y="2209800"/>
            <a:ext cx="2032000" cy="2032000"/>
          </a:xfrm>
          <a:prstGeom prst="roundRect">
            <a:avLst>
              <a:gd name="adj" fmla="val 50000"/>
            </a:avLst>
          </a:prstGeom>
          <a:solidFill>
            <a:srgbClr val="BFF4FF"/>
          </a:solidFill>
          <a:ln>
            <a:noFill/>
          </a:ln>
          <a:effectLst>
            <a:outerShdw blurRad="25400" dir="5400000" dist="12700" rotWithShape="0">
              <a:srgbClr val="000000">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6" name="Picture 5" descr="f042d472-6139-4e39-b948-385494d9ee87.png"/>
          <p:cNvPicPr>
            <a:picLocks noChangeAspect="1"/>
          </p:cNvPicPr>
          <p:nvPr/>
        </p:nvPicPr>
        <p:blipFill>
          <a:blip r:embed="rId3"/>
          <a:stretch>
            <a:fillRect/>
          </a:stretch>
        </p:blipFill>
        <p:spPr>
          <a:xfrm>
            <a:off x="4064000" y="2870200"/>
            <a:ext cx="711200" cy="711200"/>
          </a:xfrm>
          <a:prstGeom prst="rect">
            <a:avLst/>
          </a:prstGeom>
        </p:spPr>
      </p:pic>
      <p:sp>
        <p:nvSpPr>
          <p:cNvPr id="7" name="TextBox 6"/>
          <p:cNvSpPr txBox="1"/>
          <p:nvPr/>
        </p:nvSpPr>
        <p:spPr>
          <a:xfrm>
            <a:off x="3327400" y="4495800"/>
            <a:ext cx="2209800" cy="304800"/>
          </a:xfrm>
          <a:prstGeom prst="rect">
            <a:avLst/>
          </a:prstGeom>
          <a:noFill/>
        </p:spPr>
        <p:txBody>
          <a:bodyPr wrap="square" lIns="0" rIns="0" tIns="0" bIns="0">
            <a:spAutoFit/>
          </a:bodyPr>
          <a:lstStyle/>
          <a:p>
            <a:pPr algn="ctr">
              <a:defRPr i="0" sz="1600" b="1">
                <a:solidFill>
                  <a:srgbClr val="111827"/>
                </a:solidFill>
                <a:latin typeface="Albert Sans"/>
              </a:defRPr>
            </a:pPr>
            <a:r>
              <a:rPr i="0" sz="1600" b="1">
                <a:solidFill>
                  <a:srgbClr val="111827"/>
                </a:solidFill>
                <a:latin typeface="Albert Sans"/>
              </a:rPr>
              <a:t>Economic Contribution</a:t>
            </a:r>
          </a:p>
        </p:txBody>
      </p:sp>
      <p:sp>
        <p:nvSpPr>
          <p:cNvPr id="8" name="TextBox 7"/>
          <p:cNvSpPr txBox="1"/>
          <p:nvPr/>
        </p:nvSpPr>
        <p:spPr>
          <a:xfrm>
            <a:off x="2768600" y="4902200"/>
            <a:ext cx="3327400" cy="787400"/>
          </a:xfrm>
          <a:prstGeom prst="rect">
            <a:avLst/>
          </a:prstGeom>
          <a:noFill/>
        </p:spPr>
        <p:txBody>
          <a:bodyPr wrap="square" lIns="0" rIns="0" tIns="0" bIns="0">
            <a:spAutoFit/>
          </a:bodyPr>
          <a:lstStyle/>
          <a:p>
            <a:pPr algn="ctr">
              <a:lnSpc>
                <a:spcPct val="130000"/>
              </a:lnSpc>
              <a:defRPr i="0" sz="1300" b="0">
                <a:solidFill>
                  <a:srgbClr val="6B7280"/>
                </a:solidFill>
                <a:latin typeface="Albert Sans"/>
              </a:defRPr>
            </a:pPr>
            <a:r>
              <a:rPr i="0" sz="1300" b="0">
                <a:solidFill>
                  <a:srgbClr val="6B7280"/>
                </a:solidFill>
                <a:latin typeface="Albert Sans"/>
              </a:rPr>
              <a:t>AI projected to contribute </a:t>
            </a:r>
            <a:r>
              <a:rPr i="1" sz="1300" b="0">
                <a:solidFill>
                  <a:srgbClr val="6B7280"/>
                </a:solidFill>
                <a:latin typeface="Albert Sans"/>
              </a:rPr>
              <a:t>$15 billion</a:t>
            </a:r>
            <a:r>
              <a:rPr i="0" sz="1300" b="0">
                <a:solidFill>
                  <a:srgbClr val="6B7280"/>
                </a:solidFill>
                <a:latin typeface="Albert Sans"/>
              </a:rPr>
              <a:t> to Denver's economy by 2030, up from </a:t>
            </a:r>
            <a:r>
              <a:rPr i="1" sz="1300" b="0">
                <a:solidFill>
                  <a:srgbClr val="6B7280"/>
                </a:solidFill>
                <a:latin typeface="Albert Sans"/>
              </a:rPr>
              <a:t>$5 billion</a:t>
            </a:r>
            <a:r>
              <a:rPr i="0" sz="1300" b="0">
                <a:solidFill>
                  <a:srgbClr val="6B7280"/>
                </a:solidFill>
                <a:latin typeface="Albert Sans"/>
              </a:rPr>
              <a:t> currently.</a:t>
            </a:r>
          </a:p>
        </p:txBody>
      </p:sp>
      <p:sp>
        <p:nvSpPr>
          <p:cNvPr id="9" name="Rounded Rectangle 8"/>
          <p:cNvSpPr/>
          <p:nvPr/>
        </p:nvSpPr>
        <p:spPr>
          <a:xfrm>
            <a:off x="7112000" y="2209800"/>
            <a:ext cx="2032000" cy="2032000"/>
          </a:xfrm>
          <a:prstGeom prst="roundRect">
            <a:avLst>
              <a:gd name="adj" fmla="val 50000"/>
            </a:avLst>
          </a:prstGeom>
          <a:solidFill>
            <a:srgbClr val="BFF4FF"/>
          </a:solidFill>
          <a:ln>
            <a:noFill/>
          </a:ln>
          <a:effectLst>
            <a:outerShdw blurRad="25400" dir="5400000" dist="12700" rotWithShape="0">
              <a:srgbClr val="000000">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10" name="Picture 9" descr="f58c6078-31c3-45a4-bb83-de04b2912bbd.png"/>
          <p:cNvPicPr>
            <a:picLocks noChangeAspect="1"/>
          </p:cNvPicPr>
          <p:nvPr/>
        </p:nvPicPr>
        <p:blipFill>
          <a:blip r:embed="rId4"/>
          <a:stretch>
            <a:fillRect/>
          </a:stretch>
        </p:blipFill>
        <p:spPr>
          <a:xfrm>
            <a:off x="7772400" y="2870200"/>
            <a:ext cx="711200" cy="711200"/>
          </a:xfrm>
          <a:prstGeom prst="rect">
            <a:avLst/>
          </a:prstGeom>
        </p:spPr>
      </p:pic>
      <p:sp>
        <p:nvSpPr>
          <p:cNvPr id="11" name="TextBox 10"/>
          <p:cNvSpPr txBox="1"/>
          <p:nvPr/>
        </p:nvSpPr>
        <p:spPr>
          <a:xfrm>
            <a:off x="7239000" y="4495800"/>
            <a:ext cx="1816100" cy="304800"/>
          </a:xfrm>
          <a:prstGeom prst="rect">
            <a:avLst/>
          </a:prstGeom>
          <a:noFill/>
        </p:spPr>
        <p:txBody>
          <a:bodyPr wrap="square" lIns="0" rIns="0" tIns="0" bIns="0">
            <a:spAutoFit/>
          </a:bodyPr>
          <a:lstStyle/>
          <a:p>
            <a:pPr algn="ctr">
              <a:defRPr i="0" sz="1600" b="1">
                <a:solidFill>
                  <a:srgbClr val="111827"/>
                </a:solidFill>
                <a:latin typeface="Albert Sans"/>
              </a:defRPr>
            </a:pPr>
            <a:r>
              <a:rPr i="0" sz="1600" b="1">
                <a:solidFill>
                  <a:srgbClr val="111827"/>
                </a:solidFill>
                <a:latin typeface="Albert Sans"/>
              </a:rPr>
              <a:t>Investment Growth</a:t>
            </a:r>
          </a:p>
        </p:txBody>
      </p:sp>
      <p:sp>
        <p:nvSpPr>
          <p:cNvPr id="12" name="TextBox 11"/>
          <p:cNvSpPr txBox="1"/>
          <p:nvPr/>
        </p:nvSpPr>
        <p:spPr>
          <a:xfrm>
            <a:off x="6477000" y="4902200"/>
            <a:ext cx="3327400" cy="533400"/>
          </a:xfrm>
          <a:prstGeom prst="rect">
            <a:avLst/>
          </a:prstGeom>
          <a:noFill/>
        </p:spPr>
        <p:txBody>
          <a:bodyPr wrap="square" lIns="0" rIns="0" tIns="0" bIns="0">
            <a:spAutoFit/>
          </a:bodyPr>
          <a:lstStyle/>
          <a:p>
            <a:pPr algn="ctr">
              <a:lnSpc>
                <a:spcPct val="130000"/>
              </a:lnSpc>
              <a:defRPr i="0" sz="1300" b="0">
                <a:solidFill>
                  <a:srgbClr val="6B7280"/>
                </a:solidFill>
                <a:latin typeface="Albert Sans"/>
              </a:defRPr>
            </a:pPr>
            <a:r>
              <a:rPr i="0" sz="1300" b="0">
                <a:solidFill>
                  <a:srgbClr val="6B7280"/>
                </a:solidFill>
                <a:latin typeface="Albert Sans"/>
              </a:rPr>
              <a:t>Increased investment in AI startups is a key driver of this economic expansion.</a:t>
            </a:r>
          </a:p>
        </p:txBody>
      </p:sp>
      <p:sp>
        <p:nvSpPr>
          <p:cNvPr id="13" name="Rounded Rectangle 12"/>
          <p:cNvSpPr/>
          <p:nvPr/>
        </p:nvSpPr>
        <p:spPr>
          <a:xfrm>
            <a:off x="10820400" y="2209800"/>
            <a:ext cx="2032000" cy="2032000"/>
          </a:xfrm>
          <a:prstGeom prst="roundRect">
            <a:avLst>
              <a:gd name="adj" fmla="val 50000"/>
            </a:avLst>
          </a:prstGeom>
          <a:solidFill>
            <a:srgbClr val="BFF4FF"/>
          </a:solidFill>
          <a:ln>
            <a:noFill/>
          </a:ln>
          <a:effectLst>
            <a:outerShdw blurRad="25400" dir="5400000" dist="12700" rotWithShape="0">
              <a:srgbClr val="000000">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14" name="Picture 13" descr="6feb0092-c2d3-40db-8655-15eefba456d2.png"/>
          <p:cNvPicPr>
            <a:picLocks noChangeAspect="1"/>
          </p:cNvPicPr>
          <p:nvPr/>
        </p:nvPicPr>
        <p:blipFill>
          <a:blip r:embed="rId5"/>
          <a:stretch>
            <a:fillRect/>
          </a:stretch>
        </p:blipFill>
        <p:spPr>
          <a:xfrm>
            <a:off x="11480800" y="2870200"/>
            <a:ext cx="711200" cy="711200"/>
          </a:xfrm>
          <a:prstGeom prst="rect">
            <a:avLst/>
          </a:prstGeom>
        </p:spPr>
      </p:pic>
      <p:sp>
        <p:nvSpPr>
          <p:cNvPr id="15" name="TextBox 14"/>
          <p:cNvSpPr txBox="1"/>
          <p:nvPr/>
        </p:nvSpPr>
        <p:spPr>
          <a:xfrm>
            <a:off x="11099800" y="4495800"/>
            <a:ext cx="1485900" cy="304800"/>
          </a:xfrm>
          <a:prstGeom prst="rect">
            <a:avLst/>
          </a:prstGeom>
          <a:noFill/>
        </p:spPr>
        <p:txBody>
          <a:bodyPr wrap="square" lIns="0" rIns="0" tIns="0" bIns="0">
            <a:spAutoFit/>
          </a:bodyPr>
          <a:lstStyle/>
          <a:p>
            <a:pPr algn="ctr">
              <a:defRPr i="0" sz="1600" b="1">
                <a:solidFill>
                  <a:srgbClr val="111827"/>
                </a:solidFill>
                <a:latin typeface="Albert Sans"/>
              </a:defRPr>
            </a:pPr>
            <a:r>
              <a:rPr i="0" sz="1600" b="1">
                <a:solidFill>
                  <a:srgbClr val="111827"/>
                </a:solidFill>
                <a:latin typeface="Albert Sans"/>
              </a:rPr>
              <a:t>Tech Expansion</a:t>
            </a:r>
          </a:p>
        </p:txBody>
      </p:sp>
      <p:sp>
        <p:nvSpPr>
          <p:cNvPr id="16" name="TextBox 15"/>
          <p:cNvSpPr txBox="1"/>
          <p:nvPr/>
        </p:nvSpPr>
        <p:spPr>
          <a:xfrm>
            <a:off x="10185400" y="4902200"/>
            <a:ext cx="3327400" cy="787400"/>
          </a:xfrm>
          <a:prstGeom prst="rect">
            <a:avLst/>
          </a:prstGeom>
          <a:noFill/>
        </p:spPr>
        <p:txBody>
          <a:bodyPr wrap="square" lIns="0" rIns="0" tIns="0" bIns="0">
            <a:spAutoFit/>
          </a:bodyPr>
          <a:lstStyle/>
          <a:p>
            <a:pPr algn="ctr">
              <a:lnSpc>
                <a:spcPct val="130000"/>
              </a:lnSpc>
              <a:defRPr i="0" sz="1300" b="0">
                <a:solidFill>
                  <a:srgbClr val="6B7280"/>
                </a:solidFill>
                <a:latin typeface="Albert Sans"/>
              </a:defRPr>
            </a:pPr>
            <a:r>
              <a:rPr i="0" sz="1300" b="0">
                <a:solidFill>
                  <a:srgbClr val="6B7280"/>
                </a:solidFill>
                <a:latin typeface="Albert Sans"/>
              </a:rPr>
              <a:t>Existing tech companies are expanding their operations by integrating advanced AI technologies.</a:t>
            </a:r>
          </a:p>
        </p:txBody>
      </p:sp>
      <p:sp>
        <p:nvSpPr>
          <p:cNvPr id="17" name="TextBox 16"/>
          <p:cNvSpPr txBox="1"/>
          <p:nvPr/>
        </p:nvSpPr>
        <p:spPr>
          <a:xfrm>
            <a:off x="609600" y="8470900"/>
            <a:ext cx="1130300" cy="266700"/>
          </a:xfrm>
          <a:prstGeom prst="rect">
            <a:avLst/>
          </a:prstGeom>
          <a:noFill/>
        </p:spPr>
        <p:txBody>
          <a:bodyPr wrap="square" lIns="0" rIns="0" tIns="0" bIns="0">
            <a:spAutoFit/>
          </a:bodyPr>
          <a:lstStyle/>
          <a:p>
            <a:pPr algn="l">
              <a:defRPr i="0" sz="1400" b="0">
                <a:solidFill>
                  <a:srgbClr val="6B7280"/>
                </a:solidFill>
                <a:latin typeface="Albert Sans"/>
              </a:defRPr>
            </a:pPr>
            <a:r>
              <a:rPr i="0" sz="1400" b="0">
                <a:solidFill>
                  <a:srgbClr val="6B7280"/>
                </a:solidFill>
                <a:latin typeface="Albert Sans"/>
              </a:rPr>
              <a:t>denverai.com</a:t>
            </a:r>
          </a:p>
        </p:txBody>
      </p:sp>
      <p:sp>
        <p:nvSpPr>
          <p:cNvPr id="18" name="Rounded Rectangle 17"/>
          <p:cNvSpPr/>
          <p:nvPr/>
        </p:nvSpPr>
        <p:spPr>
          <a:xfrm>
            <a:off x="2019300" y="8597900"/>
            <a:ext cx="13627100" cy="25400"/>
          </a:xfrm>
          <a:prstGeom prst="roundRect">
            <a:avLst>
              <a:gd name="adj" fmla="val 200000"/>
            </a:avLst>
          </a:prstGeom>
          <a:solidFill>
            <a:srgbClr val="111827"/>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9" name="Rounded Rectangle 18"/>
          <p:cNvSpPr/>
          <p:nvPr/>
        </p:nvSpPr>
        <p:spPr>
          <a:xfrm>
            <a:off x="15455900" y="8293100"/>
            <a:ext cx="571500" cy="571500"/>
          </a:xfrm>
          <a:prstGeom prst="roundRect">
            <a:avLst>
              <a:gd name="adj" fmla="val 8888"/>
            </a:avLst>
          </a:prstGeom>
          <a:solidFill>
            <a:srgbClr val="111827"/>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600" y="101600"/>
            <a:ext cx="7950200" cy="1498600"/>
          </a:xfrm>
          <a:prstGeom prst="rect">
            <a:avLst/>
          </a:prstGeom>
          <a:noFill/>
        </p:spPr>
        <p:txBody>
          <a:bodyPr wrap="square" lIns="0" rIns="0" tIns="0" bIns="0">
            <a:spAutoFit/>
          </a:bodyPr>
          <a:lstStyle/>
          <a:p>
            <a:pPr algn="l">
              <a:lnSpc>
                <a:spcPct val="75000"/>
              </a:lnSpc>
              <a:defRPr i="0" sz="5600" b="1">
                <a:solidFill>
                  <a:srgbClr val="111827"/>
                </a:solidFill>
                <a:latin typeface="Albert Sans"/>
              </a:defRPr>
            </a:pPr>
            <a:r>
              <a:rPr i="0" sz="5600" b="1">
                <a:solidFill>
                  <a:srgbClr val="111827"/>
                </a:solidFill>
                <a:latin typeface="Albert Sans"/>
              </a:rPr>
              <a:t>Denver's Evolving Job Market</a:t>
            </a:r>
          </a:p>
        </p:txBody>
      </p:sp>
      <p:sp>
        <p:nvSpPr>
          <p:cNvPr id="3" name="TextBox 2"/>
          <p:cNvSpPr txBox="1"/>
          <p:nvPr/>
        </p:nvSpPr>
        <p:spPr>
          <a:xfrm>
            <a:off x="9042400" y="101600"/>
            <a:ext cx="6629400" cy="304800"/>
          </a:xfrm>
          <a:prstGeom prst="rect">
            <a:avLst/>
          </a:prstGeom>
          <a:noFill/>
        </p:spPr>
        <p:txBody>
          <a:bodyPr wrap="square" lIns="0" rIns="0" tIns="0" bIns="0">
            <a:spAutoFit/>
          </a:bodyPr>
          <a:lstStyle/>
          <a:p>
            <a:pPr algn="l">
              <a:defRPr i="0" sz="1600" b="1">
                <a:solidFill>
                  <a:srgbClr val="111827"/>
                </a:solidFill>
                <a:latin typeface="Albert Sans"/>
              </a:defRPr>
            </a:pPr>
            <a:r>
              <a:rPr i="0" sz="1600" b="1">
                <a:solidFill>
                  <a:srgbClr val="111827"/>
                </a:solidFill>
                <a:latin typeface="Albert Sans"/>
              </a:rPr>
              <a:t>AI's Economic Impact</a:t>
            </a:r>
          </a:p>
        </p:txBody>
      </p:sp>
      <p:sp>
        <p:nvSpPr>
          <p:cNvPr id="4" name="TextBox 3"/>
          <p:cNvSpPr txBox="1"/>
          <p:nvPr/>
        </p:nvSpPr>
        <p:spPr>
          <a:xfrm>
            <a:off x="9042400" y="508000"/>
            <a:ext cx="6629400" cy="1422400"/>
          </a:xfrm>
          <a:prstGeom prst="rect">
            <a:avLst/>
          </a:prstGeom>
          <a:noFill/>
        </p:spPr>
        <p:txBody>
          <a:bodyPr wrap="square" lIns="0" rIns="0" tIns="0" bIns="0">
            <a:spAutoFit/>
          </a:bodyPr>
          <a:lstStyle/>
          <a:p>
            <a:pPr algn="l">
              <a:lnSpc>
                <a:spcPct val="130000"/>
              </a:lnSpc>
              <a:defRPr i="0" sz="1400" b="0">
                <a:solidFill>
                  <a:srgbClr val="6B7280"/>
                </a:solidFill>
                <a:latin typeface="Albert Sans"/>
              </a:defRPr>
            </a:pPr>
            <a:r>
              <a:rPr i="0" sz="1400" b="0">
                <a:solidFill>
                  <a:srgbClr val="6B7280"/>
                </a:solidFill>
                <a:latin typeface="Albert Sans"/>
              </a:rPr>
              <a:t>Artificial Intelligence is reshaping Denver's employment landscape, driving demand for new specialized roles and requiring a significant portion of the current workforce to adapt their skills. This transformation presents both challenges and opportunities for career growth and economic development in the region.</a:t>
            </a:r>
          </a:p>
        </p:txBody>
      </p:sp>
      <p:sp>
        <p:nvSpPr>
          <p:cNvPr id="5" name="Rounded Rectangle 4"/>
          <p:cNvSpPr/>
          <p:nvPr/>
        </p:nvSpPr>
        <p:spPr>
          <a:xfrm>
            <a:off x="3403600" y="2540000"/>
            <a:ext cx="2032000" cy="2032000"/>
          </a:xfrm>
          <a:prstGeom prst="roundRect">
            <a:avLst>
              <a:gd name="adj" fmla="val 50000"/>
            </a:avLst>
          </a:prstGeom>
          <a:solidFill>
            <a:srgbClr val="BFF4FF"/>
          </a:solidFill>
          <a:ln>
            <a:noFill/>
          </a:ln>
          <a:effectLst>
            <a:outerShdw blurRad="25400" dir="5400000" dist="12700" rotWithShape="0">
              <a:srgbClr val="000000">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6" name="Picture 5" descr="b1a1e327-6641-4254-b8ee-4b431b901466.png"/>
          <p:cNvPicPr>
            <a:picLocks noChangeAspect="1"/>
          </p:cNvPicPr>
          <p:nvPr/>
        </p:nvPicPr>
        <p:blipFill>
          <a:blip r:embed="rId3"/>
          <a:stretch>
            <a:fillRect/>
          </a:stretch>
        </p:blipFill>
        <p:spPr>
          <a:xfrm>
            <a:off x="4064000" y="3200400"/>
            <a:ext cx="711200" cy="711200"/>
          </a:xfrm>
          <a:prstGeom prst="rect">
            <a:avLst/>
          </a:prstGeom>
        </p:spPr>
      </p:pic>
      <p:sp>
        <p:nvSpPr>
          <p:cNvPr id="7" name="TextBox 6"/>
          <p:cNvSpPr txBox="1"/>
          <p:nvPr/>
        </p:nvSpPr>
        <p:spPr>
          <a:xfrm>
            <a:off x="3581400" y="4826000"/>
            <a:ext cx="1714500" cy="304800"/>
          </a:xfrm>
          <a:prstGeom prst="rect">
            <a:avLst/>
          </a:prstGeom>
          <a:noFill/>
        </p:spPr>
        <p:txBody>
          <a:bodyPr wrap="square" lIns="0" rIns="0" tIns="0" bIns="0">
            <a:spAutoFit/>
          </a:bodyPr>
          <a:lstStyle/>
          <a:p>
            <a:pPr algn="ctr">
              <a:defRPr i="0" sz="1600" b="1">
                <a:solidFill>
                  <a:srgbClr val="111827"/>
                </a:solidFill>
                <a:latin typeface="Albert Sans"/>
              </a:defRPr>
            </a:pPr>
            <a:r>
              <a:rPr i="0" sz="1600" b="1">
                <a:solidFill>
                  <a:srgbClr val="111827"/>
                </a:solidFill>
                <a:latin typeface="Albert Sans"/>
              </a:rPr>
              <a:t>New Job Creation</a:t>
            </a:r>
          </a:p>
        </p:txBody>
      </p:sp>
      <p:sp>
        <p:nvSpPr>
          <p:cNvPr id="8" name="TextBox 7"/>
          <p:cNvSpPr txBox="1"/>
          <p:nvPr/>
        </p:nvSpPr>
        <p:spPr>
          <a:xfrm>
            <a:off x="2768600" y="5232400"/>
            <a:ext cx="3327400" cy="787400"/>
          </a:xfrm>
          <a:prstGeom prst="rect">
            <a:avLst/>
          </a:prstGeom>
          <a:noFill/>
        </p:spPr>
        <p:txBody>
          <a:bodyPr wrap="square" lIns="0" rIns="0" tIns="0" bIns="0">
            <a:spAutoFit/>
          </a:bodyPr>
          <a:lstStyle/>
          <a:p>
            <a:pPr algn="ctr">
              <a:lnSpc>
                <a:spcPct val="130000"/>
              </a:lnSpc>
              <a:defRPr i="0" sz="1300" b="0">
                <a:solidFill>
                  <a:srgbClr val="6B7280"/>
                </a:solidFill>
                <a:latin typeface="Albert Sans"/>
              </a:defRPr>
            </a:pPr>
            <a:r>
              <a:rPr i="0" sz="1300" b="0">
                <a:solidFill>
                  <a:srgbClr val="6B7280"/>
                </a:solidFill>
                <a:latin typeface="Albert Sans"/>
              </a:rPr>
              <a:t>Anticipate 20K new AI-centric roles by 2028, including AI researchers, data scientists, and AI ethics officers.</a:t>
            </a:r>
          </a:p>
        </p:txBody>
      </p:sp>
      <p:sp>
        <p:nvSpPr>
          <p:cNvPr id="9" name="Rounded Rectangle 8"/>
          <p:cNvSpPr/>
          <p:nvPr/>
        </p:nvSpPr>
        <p:spPr>
          <a:xfrm>
            <a:off x="7112000" y="2540000"/>
            <a:ext cx="2032000" cy="2032000"/>
          </a:xfrm>
          <a:prstGeom prst="roundRect">
            <a:avLst>
              <a:gd name="adj" fmla="val 50000"/>
            </a:avLst>
          </a:prstGeom>
          <a:solidFill>
            <a:srgbClr val="BFF4FF"/>
          </a:solidFill>
          <a:ln>
            <a:noFill/>
          </a:ln>
          <a:effectLst>
            <a:outerShdw blurRad="25400" dir="5400000" dist="12700" rotWithShape="0">
              <a:srgbClr val="000000">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10" name="Picture 9" descr="7e43ed19-ef8f-433f-8f04-d300713de545.png"/>
          <p:cNvPicPr>
            <a:picLocks noChangeAspect="1"/>
          </p:cNvPicPr>
          <p:nvPr/>
        </p:nvPicPr>
        <p:blipFill>
          <a:blip r:embed="rId4"/>
          <a:stretch>
            <a:fillRect/>
          </a:stretch>
        </p:blipFill>
        <p:spPr>
          <a:xfrm>
            <a:off x="7772400" y="3200400"/>
            <a:ext cx="711200" cy="711200"/>
          </a:xfrm>
          <a:prstGeom prst="rect">
            <a:avLst/>
          </a:prstGeom>
        </p:spPr>
      </p:pic>
      <p:sp>
        <p:nvSpPr>
          <p:cNvPr id="11" name="TextBox 10"/>
          <p:cNvSpPr txBox="1"/>
          <p:nvPr/>
        </p:nvSpPr>
        <p:spPr>
          <a:xfrm>
            <a:off x="7137400" y="4826000"/>
            <a:ext cx="2019300" cy="304800"/>
          </a:xfrm>
          <a:prstGeom prst="rect">
            <a:avLst/>
          </a:prstGeom>
          <a:noFill/>
        </p:spPr>
        <p:txBody>
          <a:bodyPr wrap="square" lIns="0" rIns="0" tIns="0" bIns="0">
            <a:spAutoFit/>
          </a:bodyPr>
          <a:lstStyle/>
          <a:p>
            <a:pPr algn="ctr">
              <a:defRPr i="0" sz="1600" b="1">
                <a:solidFill>
                  <a:srgbClr val="111827"/>
                </a:solidFill>
                <a:latin typeface="Albert Sans"/>
              </a:defRPr>
            </a:pPr>
            <a:r>
              <a:rPr i="0" sz="1600" b="1">
                <a:solidFill>
                  <a:srgbClr val="111827"/>
                </a:solidFill>
                <a:latin typeface="Albert Sans"/>
              </a:rPr>
              <a:t>Upskilling Imperative</a:t>
            </a:r>
          </a:p>
        </p:txBody>
      </p:sp>
      <p:sp>
        <p:nvSpPr>
          <p:cNvPr id="12" name="TextBox 11"/>
          <p:cNvSpPr txBox="1"/>
          <p:nvPr/>
        </p:nvSpPr>
        <p:spPr>
          <a:xfrm>
            <a:off x="6477000" y="5232400"/>
            <a:ext cx="3327400" cy="787400"/>
          </a:xfrm>
          <a:prstGeom prst="rect">
            <a:avLst/>
          </a:prstGeom>
          <a:noFill/>
        </p:spPr>
        <p:txBody>
          <a:bodyPr wrap="square" lIns="0" rIns="0" tIns="0" bIns="0">
            <a:spAutoFit/>
          </a:bodyPr>
          <a:lstStyle/>
          <a:p>
            <a:pPr algn="ctr">
              <a:lnSpc>
                <a:spcPct val="130000"/>
              </a:lnSpc>
              <a:defRPr i="0" sz="1300" b="0">
                <a:solidFill>
                  <a:srgbClr val="6B7280"/>
                </a:solidFill>
                <a:latin typeface="Albert Sans"/>
              </a:defRPr>
            </a:pPr>
            <a:r>
              <a:rPr i="0" sz="1300" b="0">
                <a:solidFill>
                  <a:srgbClr val="6B7280"/>
                </a:solidFill>
                <a:latin typeface="Albert Sans"/>
              </a:rPr>
              <a:t>Approximately 40% of existing jobs will need to evolve to incorporate AI-driven workflows.</a:t>
            </a:r>
          </a:p>
        </p:txBody>
      </p:sp>
      <p:sp>
        <p:nvSpPr>
          <p:cNvPr id="13" name="Rounded Rectangle 12"/>
          <p:cNvSpPr/>
          <p:nvPr/>
        </p:nvSpPr>
        <p:spPr>
          <a:xfrm>
            <a:off x="10820400" y="2540000"/>
            <a:ext cx="2032000" cy="2032000"/>
          </a:xfrm>
          <a:prstGeom prst="roundRect">
            <a:avLst>
              <a:gd name="adj" fmla="val 50000"/>
            </a:avLst>
          </a:prstGeom>
          <a:solidFill>
            <a:srgbClr val="BFF4FF"/>
          </a:solidFill>
          <a:ln>
            <a:noFill/>
          </a:ln>
          <a:effectLst>
            <a:outerShdw blurRad="25400" dir="5400000" dist="12700" rotWithShape="0">
              <a:srgbClr val="000000">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14" name="Picture 13" descr="f627df5d-ce4c-48fa-b431-c2c1ade0ca2a.png"/>
          <p:cNvPicPr>
            <a:picLocks noChangeAspect="1"/>
          </p:cNvPicPr>
          <p:nvPr/>
        </p:nvPicPr>
        <p:blipFill>
          <a:blip r:embed="rId5"/>
          <a:stretch>
            <a:fillRect/>
          </a:stretch>
        </p:blipFill>
        <p:spPr>
          <a:xfrm>
            <a:off x="11480800" y="3200400"/>
            <a:ext cx="711200" cy="711200"/>
          </a:xfrm>
          <a:prstGeom prst="rect">
            <a:avLst/>
          </a:prstGeom>
        </p:spPr>
      </p:pic>
      <p:sp>
        <p:nvSpPr>
          <p:cNvPr id="15" name="TextBox 14"/>
          <p:cNvSpPr txBox="1"/>
          <p:nvPr/>
        </p:nvSpPr>
        <p:spPr>
          <a:xfrm>
            <a:off x="10693400" y="4826000"/>
            <a:ext cx="2311400" cy="304800"/>
          </a:xfrm>
          <a:prstGeom prst="rect">
            <a:avLst/>
          </a:prstGeom>
          <a:noFill/>
        </p:spPr>
        <p:txBody>
          <a:bodyPr wrap="square" lIns="0" rIns="0" tIns="0" bIns="0">
            <a:spAutoFit/>
          </a:bodyPr>
          <a:lstStyle/>
          <a:p>
            <a:pPr algn="ctr">
              <a:defRPr i="0" sz="1600" b="1">
                <a:solidFill>
                  <a:srgbClr val="111827"/>
                </a:solidFill>
                <a:latin typeface="Albert Sans"/>
              </a:defRPr>
            </a:pPr>
            <a:r>
              <a:rPr i="0" sz="1600" b="1">
                <a:solidFill>
                  <a:srgbClr val="111827"/>
                </a:solidFill>
                <a:latin typeface="Albert Sans"/>
              </a:rPr>
              <a:t>Emerging Skill Demands</a:t>
            </a:r>
          </a:p>
        </p:txBody>
      </p:sp>
      <p:sp>
        <p:nvSpPr>
          <p:cNvPr id="16" name="TextBox 15"/>
          <p:cNvSpPr txBox="1"/>
          <p:nvPr/>
        </p:nvSpPr>
        <p:spPr>
          <a:xfrm>
            <a:off x="10185400" y="5232400"/>
            <a:ext cx="3327400" cy="787400"/>
          </a:xfrm>
          <a:prstGeom prst="rect">
            <a:avLst/>
          </a:prstGeom>
          <a:noFill/>
        </p:spPr>
        <p:txBody>
          <a:bodyPr wrap="square" lIns="0" rIns="0" tIns="0" bIns="0">
            <a:spAutoFit/>
          </a:bodyPr>
          <a:lstStyle/>
          <a:p>
            <a:pPr algn="ctr">
              <a:lnSpc>
                <a:spcPct val="130000"/>
              </a:lnSpc>
              <a:defRPr i="0" sz="1300" b="0">
                <a:solidFill>
                  <a:srgbClr val="6B7280"/>
                </a:solidFill>
                <a:latin typeface="Albert Sans"/>
              </a:defRPr>
            </a:pPr>
            <a:r>
              <a:rPr i="0" sz="1300" b="0">
                <a:solidFill>
                  <a:srgbClr val="6B7280"/>
                </a:solidFill>
                <a:latin typeface="Albert Sans"/>
              </a:rPr>
              <a:t>Demand is rising for specialized skills in machine learning, natural language processing, and AI ethics.</a:t>
            </a:r>
          </a:p>
        </p:txBody>
      </p:sp>
      <p:sp>
        <p:nvSpPr>
          <p:cNvPr id="17" name="TextBox 16"/>
          <p:cNvSpPr txBox="1"/>
          <p:nvPr/>
        </p:nvSpPr>
        <p:spPr>
          <a:xfrm>
            <a:off x="609600" y="8470900"/>
            <a:ext cx="1968500" cy="266700"/>
          </a:xfrm>
          <a:prstGeom prst="rect">
            <a:avLst/>
          </a:prstGeom>
          <a:noFill/>
        </p:spPr>
        <p:txBody>
          <a:bodyPr wrap="square" lIns="0" rIns="0" tIns="0" bIns="0">
            <a:spAutoFit/>
          </a:bodyPr>
          <a:lstStyle/>
          <a:p>
            <a:pPr algn="l">
              <a:defRPr i="0" sz="1400" b="0">
                <a:solidFill>
                  <a:srgbClr val="6B7280"/>
                </a:solidFill>
                <a:latin typeface="Albert Sans"/>
              </a:defRPr>
            </a:pPr>
            <a:r>
              <a:rPr i="0" sz="1400" b="0">
                <a:solidFill>
                  <a:srgbClr val="6B7280"/>
                </a:solidFill>
                <a:latin typeface="Albert Sans"/>
              </a:rPr>
              <a:t>denverai-economy.com</a:t>
            </a:r>
          </a:p>
        </p:txBody>
      </p:sp>
      <p:sp>
        <p:nvSpPr>
          <p:cNvPr id="18" name="Rounded Rectangle 17"/>
          <p:cNvSpPr/>
          <p:nvPr/>
        </p:nvSpPr>
        <p:spPr>
          <a:xfrm>
            <a:off x="2857500" y="8597900"/>
            <a:ext cx="12788900" cy="25400"/>
          </a:xfrm>
          <a:prstGeom prst="roundRect">
            <a:avLst>
              <a:gd name="adj" fmla="val 200000"/>
            </a:avLst>
          </a:prstGeom>
          <a:solidFill>
            <a:srgbClr val="111827"/>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9" name="Rounded Rectangle 18"/>
          <p:cNvSpPr/>
          <p:nvPr/>
        </p:nvSpPr>
        <p:spPr>
          <a:xfrm>
            <a:off x="15455900" y="8293100"/>
            <a:ext cx="571500" cy="571500"/>
          </a:xfrm>
          <a:prstGeom prst="roundRect">
            <a:avLst>
              <a:gd name="adj" fmla="val 8888"/>
            </a:avLst>
          </a:prstGeom>
          <a:solidFill>
            <a:srgbClr val="111827"/>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600" y="304800"/>
            <a:ext cx="5435600" cy="2984500"/>
          </a:xfrm>
          <a:prstGeom prst="rect">
            <a:avLst/>
          </a:prstGeom>
          <a:noFill/>
        </p:spPr>
        <p:txBody>
          <a:bodyPr wrap="square" lIns="0" rIns="0" tIns="0" bIns="0">
            <a:spAutoFit/>
          </a:bodyPr>
          <a:lstStyle/>
          <a:p>
            <a:pPr algn="l">
              <a:lnSpc>
                <a:spcPct val="75000"/>
              </a:lnSpc>
              <a:defRPr i="0" sz="5600" b="1">
                <a:solidFill>
                  <a:srgbClr val="111827"/>
                </a:solidFill>
                <a:latin typeface="Albert Sans"/>
              </a:defRPr>
            </a:pPr>
            <a:r>
              <a:rPr i="0" sz="5600" b="1">
                <a:solidFill>
                  <a:srgbClr val="111827"/>
                </a:solidFill>
                <a:latin typeface="Albert Sans"/>
              </a:rPr>
              <a:t>Sectoral Impact of AIAcross Denver Industries</a:t>
            </a:r>
          </a:p>
        </p:txBody>
      </p:sp>
      <p:sp>
        <p:nvSpPr>
          <p:cNvPr id="3" name="TextBox 2"/>
          <p:cNvSpPr txBox="1"/>
          <p:nvPr/>
        </p:nvSpPr>
        <p:spPr>
          <a:xfrm>
            <a:off x="609600" y="3695700"/>
            <a:ext cx="3835400" cy="1460500"/>
          </a:xfrm>
          <a:prstGeom prst="rect">
            <a:avLst/>
          </a:prstGeom>
          <a:noFill/>
        </p:spPr>
        <p:txBody>
          <a:bodyPr wrap="square" lIns="0" rIns="0" tIns="0" bIns="0">
            <a:spAutoFit/>
          </a:bodyPr>
          <a:lstStyle/>
          <a:p>
            <a:pPr algn="l">
              <a:lnSpc>
                <a:spcPct val="150000"/>
              </a:lnSpc>
              <a:defRPr i="0" sz="1600" b="0">
                <a:solidFill>
                  <a:srgbClr val="6B7280"/>
                </a:solidFill>
                <a:latin typeface="Albert Sans"/>
              </a:defRPr>
            </a:pPr>
            <a:r>
              <a:rPr i="0" sz="1600" b="0">
                <a:solidFill>
                  <a:srgbClr val="6B7280"/>
                </a:solidFill>
                <a:latin typeface="Albert Sans"/>
              </a:rPr>
              <a:t>Artificial intelligence is reshaping various sectors in Denver, moving beyond just technology. Explore its influence on key local industries.</a:t>
            </a:r>
          </a:p>
        </p:txBody>
      </p:sp>
      <p:pic>
        <p:nvPicPr>
          <p:cNvPr id="4" name="Picture 3" descr="9bb592ca-382b-486a-a43f-8a70b8cf52e1.png"/>
          <p:cNvPicPr>
            <a:picLocks noChangeAspect="1"/>
          </p:cNvPicPr>
          <p:nvPr/>
        </p:nvPicPr>
        <p:blipFill>
          <a:blip r:embed="rId3"/>
          <a:stretch>
            <a:fillRect/>
          </a:stretch>
        </p:blipFill>
        <p:spPr>
          <a:xfrm>
            <a:off x="6426200" y="304800"/>
            <a:ext cx="2870200" cy="2286000"/>
          </a:xfrm>
          <a:prstGeom prst="rect">
            <a:avLst/>
          </a:prstGeom>
        </p:spPr>
      </p:pic>
      <p:sp>
        <p:nvSpPr>
          <p:cNvPr id="5" name="Rounded Rectangle 4"/>
          <p:cNvSpPr/>
          <p:nvPr/>
        </p:nvSpPr>
        <p:spPr>
          <a:xfrm>
            <a:off x="6426200" y="2578100"/>
            <a:ext cx="2870200" cy="2400300"/>
          </a:xfrm>
          <a:prstGeom prst="roundRect">
            <a:avLst>
              <a:gd name="adj" fmla="val 14814"/>
            </a:avLst>
          </a:prstGeom>
          <a:solidFill>
            <a:srgbClr val="BFF4FF"/>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6" name="TextBox 5"/>
          <p:cNvSpPr txBox="1"/>
          <p:nvPr/>
        </p:nvSpPr>
        <p:spPr>
          <a:xfrm>
            <a:off x="6731000" y="2882900"/>
            <a:ext cx="2286000" cy="381000"/>
          </a:xfrm>
          <a:prstGeom prst="rect">
            <a:avLst/>
          </a:prstGeom>
          <a:noFill/>
        </p:spPr>
        <p:txBody>
          <a:bodyPr wrap="square" lIns="0" rIns="0" tIns="0" bIns="0">
            <a:spAutoFit/>
          </a:bodyPr>
          <a:lstStyle/>
          <a:p>
            <a:pPr algn="l">
              <a:defRPr i="0" sz="2000" b="1">
                <a:solidFill>
                  <a:srgbClr val="111827"/>
                </a:solidFill>
                <a:latin typeface="Albert Sans"/>
              </a:defRPr>
            </a:pPr>
            <a:r>
              <a:rPr i="0" sz="2000" b="1">
                <a:solidFill>
                  <a:srgbClr val="111827"/>
                </a:solidFill>
                <a:latin typeface="Albert Sans"/>
              </a:rPr>
              <a:t>Healthcare</a:t>
            </a:r>
          </a:p>
        </p:txBody>
      </p:sp>
      <p:sp>
        <p:nvSpPr>
          <p:cNvPr id="7" name="TextBox 6"/>
          <p:cNvSpPr txBox="1"/>
          <p:nvPr/>
        </p:nvSpPr>
        <p:spPr>
          <a:xfrm>
            <a:off x="6731000" y="3416300"/>
            <a:ext cx="2286000" cy="1206500"/>
          </a:xfrm>
          <a:prstGeom prst="rect">
            <a:avLst/>
          </a:prstGeom>
          <a:noFill/>
        </p:spPr>
        <p:txBody>
          <a:bodyPr wrap="square" lIns="0" rIns="0" tIns="0" bIns="0">
            <a:spAutoFit/>
          </a:bodyPr>
          <a:lstStyle/>
          <a:p>
            <a:pPr algn="l">
              <a:lnSpc>
                <a:spcPct val="140000"/>
              </a:lnSpc>
              <a:defRPr i="0" sz="1400" b="0">
                <a:solidFill>
                  <a:srgbClr val="6B7280"/>
                </a:solidFill>
                <a:latin typeface="Albert Sans"/>
              </a:defRPr>
            </a:pPr>
            <a:r>
              <a:rPr i="0" sz="1400" b="0">
                <a:solidFill>
                  <a:srgbClr val="6B7280"/>
                </a:solidFill>
                <a:latin typeface="Albert Sans"/>
              </a:rPr>
              <a:t>AI enhances diagnostics and personalized medicine, expecting a </a:t>
            </a:r>
            <a:r>
              <a:rPr i="0" sz="1400" b="1">
                <a:solidFill>
                  <a:srgbClr val="6B7280"/>
                </a:solidFill>
                <a:latin typeface="Albert Sans"/>
              </a:rPr>
              <a:t>25% efficiency boost</a:t>
            </a:r>
            <a:r>
              <a:rPr i="0" sz="1400" b="0">
                <a:solidFill>
                  <a:srgbClr val="6B7280"/>
                </a:solidFill>
                <a:latin typeface="Albert Sans"/>
              </a:rPr>
              <a:t> by 2027.</a:t>
            </a:r>
          </a:p>
        </p:txBody>
      </p:sp>
      <p:pic>
        <p:nvPicPr>
          <p:cNvPr id="8" name="Picture 7" descr="664933ec-5370-43cb-b6bc-21a70e12fc23.png"/>
          <p:cNvPicPr>
            <a:picLocks noChangeAspect="1"/>
          </p:cNvPicPr>
          <p:nvPr/>
        </p:nvPicPr>
        <p:blipFill>
          <a:blip r:embed="rId4"/>
          <a:stretch>
            <a:fillRect/>
          </a:stretch>
        </p:blipFill>
        <p:spPr>
          <a:xfrm>
            <a:off x="9804400" y="304800"/>
            <a:ext cx="2870200" cy="2286000"/>
          </a:xfrm>
          <a:prstGeom prst="rect">
            <a:avLst/>
          </a:prstGeom>
        </p:spPr>
      </p:pic>
      <p:sp>
        <p:nvSpPr>
          <p:cNvPr id="9" name="Rounded Rectangle 8"/>
          <p:cNvSpPr/>
          <p:nvPr/>
        </p:nvSpPr>
        <p:spPr>
          <a:xfrm>
            <a:off x="9804400" y="2578100"/>
            <a:ext cx="2870200" cy="3009900"/>
          </a:xfrm>
          <a:prstGeom prst="roundRect">
            <a:avLst>
              <a:gd name="adj" fmla="val 12389"/>
            </a:avLst>
          </a:prstGeom>
          <a:solidFill>
            <a:srgbClr val="BFF4FF"/>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0" name="TextBox 9"/>
          <p:cNvSpPr txBox="1"/>
          <p:nvPr/>
        </p:nvSpPr>
        <p:spPr>
          <a:xfrm>
            <a:off x="10109200" y="2882900"/>
            <a:ext cx="2286000" cy="381000"/>
          </a:xfrm>
          <a:prstGeom prst="rect">
            <a:avLst/>
          </a:prstGeom>
          <a:noFill/>
        </p:spPr>
        <p:txBody>
          <a:bodyPr wrap="square" lIns="0" rIns="0" tIns="0" bIns="0">
            <a:spAutoFit/>
          </a:bodyPr>
          <a:lstStyle/>
          <a:p>
            <a:pPr algn="l">
              <a:defRPr i="0" sz="2000" b="1">
                <a:solidFill>
                  <a:srgbClr val="111827"/>
                </a:solidFill>
                <a:latin typeface="Albert Sans"/>
              </a:defRPr>
            </a:pPr>
            <a:r>
              <a:rPr i="0" sz="2000" b="1">
                <a:solidFill>
                  <a:srgbClr val="111827"/>
                </a:solidFill>
                <a:latin typeface="Albert Sans"/>
              </a:rPr>
              <a:t>Finance</a:t>
            </a:r>
          </a:p>
        </p:txBody>
      </p:sp>
      <p:sp>
        <p:nvSpPr>
          <p:cNvPr id="11" name="TextBox 10"/>
          <p:cNvSpPr txBox="1"/>
          <p:nvPr/>
        </p:nvSpPr>
        <p:spPr>
          <a:xfrm>
            <a:off x="10109200" y="3416300"/>
            <a:ext cx="2286000" cy="1816100"/>
          </a:xfrm>
          <a:prstGeom prst="rect">
            <a:avLst/>
          </a:prstGeom>
          <a:noFill/>
        </p:spPr>
        <p:txBody>
          <a:bodyPr wrap="square" lIns="0" rIns="0" tIns="0" bIns="0">
            <a:spAutoFit/>
          </a:bodyPr>
          <a:lstStyle/>
          <a:p>
            <a:pPr algn="l">
              <a:lnSpc>
                <a:spcPct val="140000"/>
              </a:lnSpc>
              <a:defRPr i="0" sz="1400" b="0">
                <a:solidFill>
                  <a:srgbClr val="6B7280"/>
                </a:solidFill>
                <a:latin typeface="Albert Sans"/>
              </a:defRPr>
            </a:pPr>
            <a:r>
              <a:rPr i="0" sz="1400" b="0">
                <a:solidFill>
                  <a:srgbClr val="6B7280"/>
                </a:solidFill>
                <a:latin typeface="Albert Sans"/>
              </a:rPr>
              <a:t>AI-powered fraud detection and algorithmic trading are standard, improving security and speed by an estimated </a:t>
            </a:r>
            <a:r>
              <a:rPr i="0" sz="1400" b="1">
                <a:solidFill>
                  <a:srgbClr val="6B7280"/>
                </a:solidFill>
                <a:latin typeface="Albert Sans"/>
              </a:rPr>
              <a:t>15%</a:t>
            </a:r>
            <a:r>
              <a:rPr i="0" sz="1400" b="0">
                <a:solidFill>
                  <a:srgbClr val="6B7280"/>
                </a:solidFill>
                <a:latin typeface="Albert Sans"/>
              </a:rPr>
              <a:t>.</a:t>
            </a:r>
          </a:p>
        </p:txBody>
      </p:sp>
      <p:pic>
        <p:nvPicPr>
          <p:cNvPr id="12" name="Picture 11" descr="543d1765-8e37-4ec4-9d4a-6904a2a2baf4.png"/>
          <p:cNvPicPr>
            <a:picLocks noChangeAspect="1"/>
          </p:cNvPicPr>
          <p:nvPr/>
        </p:nvPicPr>
        <p:blipFill>
          <a:blip r:embed="rId5"/>
          <a:stretch>
            <a:fillRect/>
          </a:stretch>
        </p:blipFill>
        <p:spPr>
          <a:xfrm>
            <a:off x="13182600" y="304800"/>
            <a:ext cx="2870200" cy="2286000"/>
          </a:xfrm>
          <a:prstGeom prst="rect">
            <a:avLst/>
          </a:prstGeom>
        </p:spPr>
      </p:pic>
      <p:sp>
        <p:nvSpPr>
          <p:cNvPr id="13" name="Rounded Rectangle 12"/>
          <p:cNvSpPr/>
          <p:nvPr/>
        </p:nvSpPr>
        <p:spPr>
          <a:xfrm>
            <a:off x="13182600" y="2578100"/>
            <a:ext cx="2870200" cy="2705100"/>
          </a:xfrm>
          <a:prstGeom prst="roundRect">
            <a:avLst>
              <a:gd name="adj" fmla="val 13145"/>
            </a:avLst>
          </a:prstGeom>
          <a:solidFill>
            <a:srgbClr val="BFF4FF"/>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4" name="TextBox 13"/>
          <p:cNvSpPr txBox="1"/>
          <p:nvPr/>
        </p:nvSpPr>
        <p:spPr>
          <a:xfrm>
            <a:off x="13487400" y="2882900"/>
            <a:ext cx="2286000" cy="381000"/>
          </a:xfrm>
          <a:prstGeom prst="rect">
            <a:avLst/>
          </a:prstGeom>
          <a:noFill/>
        </p:spPr>
        <p:txBody>
          <a:bodyPr wrap="square" lIns="0" rIns="0" tIns="0" bIns="0">
            <a:spAutoFit/>
          </a:bodyPr>
          <a:lstStyle/>
          <a:p>
            <a:pPr algn="l">
              <a:defRPr i="0" sz="2000" b="1">
                <a:solidFill>
                  <a:srgbClr val="111827"/>
                </a:solidFill>
                <a:latin typeface="Albert Sans"/>
              </a:defRPr>
            </a:pPr>
            <a:r>
              <a:rPr i="0" sz="2000" b="1">
                <a:solidFill>
                  <a:srgbClr val="111827"/>
                </a:solidFill>
                <a:latin typeface="Albert Sans"/>
              </a:rPr>
              <a:t>Real Estate</a:t>
            </a:r>
          </a:p>
        </p:txBody>
      </p:sp>
      <p:sp>
        <p:nvSpPr>
          <p:cNvPr id="15" name="TextBox 14"/>
          <p:cNvSpPr txBox="1"/>
          <p:nvPr/>
        </p:nvSpPr>
        <p:spPr>
          <a:xfrm>
            <a:off x="13487400" y="3416300"/>
            <a:ext cx="2286000" cy="1511300"/>
          </a:xfrm>
          <a:prstGeom prst="rect">
            <a:avLst/>
          </a:prstGeom>
          <a:noFill/>
        </p:spPr>
        <p:txBody>
          <a:bodyPr wrap="square" lIns="0" rIns="0" tIns="0" bIns="0">
            <a:spAutoFit/>
          </a:bodyPr>
          <a:lstStyle/>
          <a:p>
            <a:pPr algn="l">
              <a:lnSpc>
                <a:spcPct val="140000"/>
              </a:lnSpc>
              <a:defRPr i="0" sz="1400" b="0">
                <a:solidFill>
                  <a:srgbClr val="6B7280"/>
                </a:solidFill>
                <a:latin typeface="Albert Sans"/>
              </a:defRPr>
            </a:pPr>
            <a:r>
              <a:rPr i="0" sz="1400" b="0">
                <a:solidFill>
                  <a:srgbClr val="6B7280"/>
                </a:solidFill>
                <a:latin typeface="Albert Sans"/>
              </a:rPr>
              <a:t>AI revolutionizes property management and market analysis for more accurate valuations and smoother transactions.</a:t>
            </a:r>
          </a:p>
        </p:txBody>
      </p:sp>
      <p:sp>
        <p:nvSpPr>
          <p:cNvPr id="16" name="TextBox 15"/>
          <p:cNvSpPr txBox="1"/>
          <p:nvPr/>
        </p:nvSpPr>
        <p:spPr>
          <a:xfrm>
            <a:off x="609600" y="8470900"/>
            <a:ext cx="2120900" cy="266700"/>
          </a:xfrm>
          <a:prstGeom prst="rect">
            <a:avLst/>
          </a:prstGeom>
          <a:noFill/>
        </p:spPr>
        <p:txBody>
          <a:bodyPr wrap="square" lIns="0" rIns="0" tIns="0" bIns="0">
            <a:spAutoFit/>
          </a:bodyPr>
          <a:lstStyle/>
          <a:p>
            <a:pPr algn="l">
              <a:defRPr i="0" sz="1400" b="0">
                <a:solidFill>
                  <a:srgbClr val="6B7280"/>
                </a:solidFill>
                <a:latin typeface="Albert Sans"/>
              </a:defRPr>
            </a:pPr>
            <a:r>
              <a:rPr i="0" sz="1400" b="0">
                <a:solidFill>
                  <a:srgbClr val="6B7280"/>
                </a:solidFill>
                <a:latin typeface="Albert Sans"/>
              </a:rPr>
              <a:t>www.denveraiimpact.com</a:t>
            </a:r>
          </a:p>
        </p:txBody>
      </p:sp>
      <p:sp>
        <p:nvSpPr>
          <p:cNvPr id="17" name="Rounded Rectangle 16"/>
          <p:cNvSpPr/>
          <p:nvPr/>
        </p:nvSpPr>
        <p:spPr>
          <a:xfrm>
            <a:off x="3009900" y="8597900"/>
            <a:ext cx="12636500" cy="25400"/>
          </a:xfrm>
          <a:prstGeom prst="roundRect">
            <a:avLst>
              <a:gd name="adj" fmla="val 200000"/>
            </a:avLst>
          </a:prstGeom>
          <a:solidFill>
            <a:srgbClr val="E5E7EB"/>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8" name="Rounded Rectangle 17"/>
          <p:cNvSpPr/>
          <p:nvPr/>
        </p:nvSpPr>
        <p:spPr>
          <a:xfrm>
            <a:off x="15455900" y="8293100"/>
            <a:ext cx="571500" cy="571500"/>
          </a:xfrm>
          <a:prstGeom prst="roundRect">
            <a:avLst>
              <a:gd name="adj" fmla="val 8888"/>
            </a:avLst>
          </a:prstGeom>
          <a:solidFill>
            <a:srgbClr val="111827"/>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8128000" y="0"/>
            <a:ext cx="12700" cy="9144000"/>
          </a:xfrm>
          <a:prstGeom prst="roundRect">
            <a:avLst>
              <a:gd name="adj" fmla="val 400000"/>
            </a:avLst>
          </a:prstGeom>
          <a:solidFill>
            <a:srgbClr val="000000">
              <a:alpha val="10000"/>
            </a:srgbClr>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 name="TextBox 2"/>
          <p:cNvSpPr txBox="1"/>
          <p:nvPr/>
        </p:nvSpPr>
        <p:spPr>
          <a:xfrm>
            <a:off x="609600" y="152400"/>
            <a:ext cx="5359400" cy="2006600"/>
          </a:xfrm>
          <a:prstGeom prst="rect">
            <a:avLst/>
          </a:prstGeom>
          <a:noFill/>
        </p:spPr>
        <p:txBody>
          <a:bodyPr wrap="square" lIns="0" rIns="0" tIns="0" bIns="0">
            <a:spAutoFit/>
          </a:bodyPr>
          <a:lstStyle/>
          <a:p>
            <a:pPr algn="l">
              <a:lnSpc>
                <a:spcPct val="80000"/>
              </a:lnSpc>
              <a:defRPr i="0" sz="4800" b="1">
                <a:solidFill>
                  <a:srgbClr val="111827"/>
                </a:solidFill>
                <a:latin typeface="Albert Sans"/>
              </a:defRPr>
            </a:pPr>
            <a:r>
              <a:rPr i="0" sz="4800" b="1">
                <a:solidFill>
                  <a:srgbClr val="111827"/>
                </a:solidFill>
                <a:latin typeface="Albert Sans"/>
              </a:rPr>
              <a:t>Denver: A Thriving AI Innovation Hub</a:t>
            </a:r>
          </a:p>
        </p:txBody>
      </p:sp>
      <p:sp>
        <p:nvSpPr>
          <p:cNvPr id="4" name="Rounded Rectangle 3"/>
          <p:cNvSpPr/>
          <p:nvPr/>
        </p:nvSpPr>
        <p:spPr>
          <a:xfrm>
            <a:off x="609600" y="2628900"/>
            <a:ext cx="254000" cy="254000"/>
          </a:xfrm>
          <a:prstGeom prst="roundRect">
            <a:avLst>
              <a:gd name="adj" fmla="val 50000"/>
            </a:avLst>
          </a:prstGeom>
          <a:solidFill>
            <a:srgbClr val="111827"/>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5" name="TextBox 4"/>
          <p:cNvSpPr txBox="1"/>
          <p:nvPr/>
        </p:nvSpPr>
        <p:spPr>
          <a:xfrm>
            <a:off x="1016000" y="2565400"/>
            <a:ext cx="2565400" cy="381000"/>
          </a:xfrm>
          <a:prstGeom prst="rect">
            <a:avLst/>
          </a:prstGeom>
          <a:noFill/>
        </p:spPr>
        <p:txBody>
          <a:bodyPr wrap="square" lIns="0" rIns="0" tIns="0" bIns="0">
            <a:spAutoFit/>
          </a:bodyPr>
          <a:lstStyle/>
          <a:p>
            <a:pPr algn="l">
              <a:defRPr i="0" sz="2000" b="1">
                <a:solidFill>
                  <a:srgbClr val="111827"/>
                </a:solidFill>
                <a:latin typeface="Albert Sans"/>
              </a:defRPr>
            </a:pPr>
            <a:r>
              <a:rPr i="0" sz="2000" b="1">
                <a:solidFill>
                  <a:srgbClr val="111827"/>
                </a:solidFill>
                <a:latin typeface="Albert Sans"/>
              </a:rPr>
              <a:t>AI Ecosystem Growth</a:t>
            </a:r>
          </a:p>
        </p:txBody>
      </p:sp>
      <p:sp>
        <p:nvSpPr>
          <p:cNvPr id="6" name="TextBox 5"/>
          <p:cNvSpPr txBox="1"/>
          <p:nvPr/>
        </p:nvSpPr>
        <p:spPr>
          <a:xfrm>
            <a:off x="609600" y="3225800"/>
            <a:ext cx="4597400" cy="2565400"/>
          </a:xfrm>
          <a:prstGeom prst="rect">
            <a:avLst/>
          </a:prstGeom>
          <a:noFill/>
        </p:spPr>
        <p:txBody>
          <a:bodyPr wrap="square" lIns="0" rIns="0" tIns="0" bIns="0">
            <a:spAutoFit/>
          </a:bodyPr>
          <a:lstStyle/>
          <a:p>
            <a:pPr algn="l">
              <a:lnSpc>
                <a:spcPct val="150000"/>
              </a:lnSpc>
              <a:defRPr i="0" sz="1600" b="0">
                <a:solidFill>
                  <a:srgbClr val="6B7280"/>
                </a:solidFill>
                <a:latin typeface="Albert Sans"/>
              </a:defRPr>
            </a:pPr>
            <a:r>
              <a:rPr i="0" sz="1600" b="0">
                <a:solidFill>
                  <a:srgbClr val="6B7280"/>
                </a:solidFill>
                <a:latin typeface="Albert Sans"/>
              </a:rPr>
              <a:t>Denver is emerging as a key center for AI innovation. The city supports a dynamic environment with </a:t>
            </a:r>
            <a:r>
              <a:rPr i="0" sz="1600" b="1">
                <a:solidFill>
                  <a:srgbClr val="6B7280"/>
                </a:solidFill>
                <a:latin typeface="Albert Sans"/>
              </a:rPr>
              <a:t>3 major AI research institutions</a:t>
            </a:r>
            <a:r>
              <a:rPr i="0" sz="1600" b="0">
                <a:solidFill>
                  <a:srgbClr val="6B7280"/>
                </a:solidFill>
                <a:latin typeface="Albert Sans"/>
              </a:rPr>
              <a:t> and </a:t>
            </a:r>
            <a:r>
              <a:rPr i="0" sz="1600" b="1">
                <a:solidFill>
                  <a:srgbClr val="6B7280"/>
                </a:solidFill>
                <a:latin typeface="Albert Sans"/>
              </a:rPr>
              <a:t>over 150 AI startups</a:t>
            </a:r>
            <a:r>
              <a:rPr i="0" sz="1600" b="0">
                <a:solidFill>
                  <a:srgbClr val="6B7280"/>
                </a:solidFill>
                <a:latin typeface="Albert Sans"/>
              </a:rPr>
              <a:t>. This growth is fueled by substantial investment, attracting venture capital to foster AI development and talent.</a:t>
            </a:r>
          </a:p>
        </p:txBody>
      </p:sp>
      <p:sp>
        <p:nvSpPr>
          <p:cNvPr id="7" name="Rounded Rectangle 6"/>
          <p:cNvSpPr/>
          <p:nvPr/>
        </p:nvSpPr>
        <p:spPr>
          <a:xfrm>
            <a:off x="14478000" y="457200"/>
            <a:ext cx="2794000" cy="2794000"/>
          </a:xfrm>
          <a:prstGeom prst="roundRect">
            <a:avLst>
              <a:gd name="adj" fmla="val 50000"/>
            </a:avLst>
          </a:prstGeom>
          <a:noFill/>
          <a:ln w="12700">
            <a:solidFill>
              <a:srgbClr val="000000">
                <a:alpha val="20000"/>
              </a:srgbClr>
            </a:solid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8" name="Rounded Rectangle 7"/>
          <p:cNvSpPr/>
          <p:nvPr/>
        </p:nvSpPr>
        <p:spPr>
          <a:xfrm>
            <a:off x="7327900" y="152400"/>
            <a:ext cx="8724900" cy="1460500"/>
          </a:xfrm>
          <a:prstGeom prst="roundRect">
            <a:avLst>
              <a:gd name="adj" fmla="val 15652"/>
            </a:avLst>
          </a:prstGeom>
          <a:solidFill>
            <a:srgbClr val="BFF4FF"/>
          </a:solidFill>
          <a:ln>
            <a:noFill/>
          </a:ln>
          <a:effectLst>
            <a:outerShdw blurRad="508000" dir="5400000" dist="203200" rotWithShape="0">
              <a:srgbClr val="000000">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9" name="TextBox 8"/>
          <p:cNvSpPr txBox="1"/>
          <p:nvPr/>
        </p:nvSpPr>
        <p:spPr>
          <a:xfrm>
            <a:off x="7632700" y="406400"/>
            <a:ext cx="3111500" cy="762000"/>
          </a:xfrm>
          <a:prstGeom prst="rect">
            <a:avLst/>
          </a:prstGeom>
          <a:noFill/>
        </p:spPr>
        <p:txBody>
          <a:bodyPr wrap="square" lIns="0" rIns="0" tIns="0" bIns="0">
            <a:spAutoFit/>
          </a:bodyPr>
          <a:lstStyle/>
          <a:p>
            <a:pPr algn="l">
              <a:defRPr i="0" sz="4000" b="1">
                <a:solidFill>
                  <a:srgbClr val="111827"/>
                </a:solidFill>
                <a:latin typeface="Albert Sans"/>
              </a:defRPr>
            </a:pPr>
            <a:r>
              <a:rPr i="0" sz="4000" b="1">
                <a:solidFill>
                  <a:srgbClr val="111827"/>
                </a:solidFill>
                <a:latin typeface="Albert Sans"/>
              </a:rPr>
              <a:t>3</a:t>
            </a:r>
          </a:p>
        </p:txBody>
      </p:sp>
      <p:sp>
        <p:nvSpPr>
          <p:cNvPr id="10" name="TextBox 9"/>
          <p:cNvSpPr txBox="1"/>
          <p:nvPr/>
        </p:nvSpPr>
        <p:spPr>
          <a:xfrm>
            <a:off x="10718800" y="406400"/>
            <a:ext cx="5054600" cy="304800"/>
          </a:xfrm>
          <a:prstGeom prst="rect">
            <a:avLst/>
          </a:prstGeom>
          <a:noFill/>
        </p:spPr>
        <p:txBody>
          <a:bodyPr wrap="square" lIns="0" rIns="0" tIns="0" bIns="0">
            <a:spAutoFit/>
          </a:bodyPr>
          <a:lstStyle/>
          <a:p>
            <a:pPr algn="l">
              <a:defRPr i="0" sz="1600" b="1">
                <a:solidFill>
                  <a:srgbClr val="111827"/>
                </a:solidFill>
                <a:latin typeface="Albert Sans"/>
              </a:defRPr>
            </a:pPr>
            <a:r>
              <a:rPr i="0" sz="1600" b="1">
                <a:solidFill>
                  <a:srgbClr val="111827"/>
                </a:solidFill>
                <a:latin typeface="Albert Sans"/>
              </a:rPr>
              <a:t>Major Research</a:t>
            </a:r>
          </a:p>
        </p:txBody>
      </p:sp>
      <p:sp>
        <p:nvSpPr>
          <p:cNvPr id="11" name="TextBox 10"/>
          <p:cNvSpPr txBox="1"/>
          <p:nvPr/>
        </p:nvSpPr>
        <p:spPr>
          <a:xfrm>
            <a:off x="10718800" y="660400"/>
            <a:ext cx="5054600" cy="304800"/>
          </a:xfrm>
          <a:prstGeom prst="rect">
            <a:avLst/>
          </a:prstGeom>
          <a:noFill/>
        </p:spPr>
        <p:txBody>
          <a:bodyPr wrap="square" lIns="0" rIns="0" tIns="0" bIns="0">
            <a:spAutoFit/>
          </a:bodyPr>
          <a:lstStyle/>
          <a:p>
            <a:pPr algn="l">
              <a:defRPr i="0" sz="1600" b="1">
                <a:solidFill>
                  <a:srgbClr val="111827"/>
                </a:solidFill>
                <a:latin typeface="Albert Sans"/>
              </a:defRPr>
            </a:pPr>
            <a:r>
              <a:rPr i="0" sz="1600" b="1">
                <a:solidFill>
                  <a:srgbClr val="111827"/>
                </a:solidFill>
                <a:latin typeface="Albert Sans"/>
              </a:rPr>
              <a:t>Institutions</a:t>
            </a:r>
          </a:p>
        </p:txBody>
      </p:sp>
      <p:sp>
        <p:nvSpPr>
          <p:cNvPr id="12" name="TextBox 11"/>
          <p:cNvSpPr txBox="1"/>
          <p:nvPr/>
        </p:nvSpPr>
        <p:spPr>
          <a:xfrm>
            <a:off x="10718800" y="1117600"/>
            <a:ext cx="5054600" cy="241300"/>
          </a:xfrm>
          <a:prstGeom prst="rect">
            <a:avLst/>
          </a:prstGeom>
          <a:noFill/>
        </p:spPr>
        <p:txBody>
          <a:bodyPr wrap="square" lIns="0" rIns="0" tIns="0" bIns="0">
            <a:spAutoFit/>
          </a:bodyPr>
          <a:lstStyle/>
          <a:p>
            <a:pPr algn="l">
              <a:defRPr i="0" sz="1200" b="0">
                <a:solidFill>
                  <a:srgbClr val="6B7280"/>
                </a:solidFill>
                <a:latin typeface="Albert Sans"/>
              </a:defRPr>
            </a:pPr>
            <a:r>
              <a:rPr i="0" sz="1200" b="0">
                <a:solidFill>
                  <a:srgbClr val="6B7280"/>
                </a:solidFill>
                <a:latin typeface="Albert Sans"/>
              </a:rPr>
              <a:t>Leading institutions driving AI advancements and research.</a:t>
            </a:r>
          </a:p>
        </p:txBody>
      </p:sp>
      <p:sp>
        <p:nvSpPr>
          <p:cNvPr id="13" name="Rounded Rectangle 12"/>
          <p:cNvSpPr/>
          <p:nvPr/>
        </p:nvSpPr>
        <p:spPr>
          <a:xfrm>
            <a:off x="7327900" y="1917700"/>
            <a:ext cx="8724900" cy="1270000"/>
          </a:xfrm>
          <a:prstGeom prst="roundRect">
            <a:avLst>
              <a:gd name="adj" fmla="val 18000"/>
            </a:avLst>
          </a:prstGeom>
          <a:solidFill>
            <a:srgbClr val="BFF4FF"/>
          </a:solidFill>
          <a:ln>
            <a:noFill/>
          </a:ln>
          <a:effectLst>
            <a:outerShdw blurRad="508000" dir="5400000" dist="203200" rotWithShape="0">
              <a:srgbClr val="000000">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4" name="TextBox 13"/>
          <p:cNvSpPr txBox="1"/>
          <p:nvPr/>
        </p:nvSpPr>
        <p:spPr>
          <a:xfrm>
            <a:off x="7632700" y="2171700"/>
            <a:ext cx="3111500" cy="762000"/>
          </a:xfrm>
          <a:prstGeom prst="rect">
            <a:avLst/>
          </a:prstGeom>
          <a:noFill/>
        </p:spPr>
        <p:txBody>
          <a:bodyPr wrap="square" lIns="0" rIns="0" tIns="0" bIns="0">
            <a:spAutoFit/>
          </a:bodyPr>
          <a:lstStyle/>
          <a:p>
            <a:pPr algn="l">
              <a:defRPr i="0" sz="4000" b="1">
                <a:solidFill>
                  <a:srgbClr val="111827"/>
                </a:solidFill>
                <a:latin typeface="Albert Sans"/>
              </a:defRPr>
            </a:pPr>
            <a:r>
              <a:rPr i="0" sz="4000" b="1">
                <a:solidFill>
                  <a:srgbClr val="111827"/>
                </a:solidFill>
                <a:latin typeface="Albert Sans"/>
              </a:rPr>
              <a:t>150+</a:t>
            </a:r>
          </a:p>
        </p:txBody>
      </p:sp>
      <p:sp>
        <p:nvSpPr>
          <p:cNvPr id="15" name="TextBox 14"/>
          <p:cNvSpPr txBox="1"/>
          <p:nvPr/>
        </p:nvSpPr>
        <p:spPr>
          <a:xfrm>
            <a:off x="10718800" y="2171700"/>
            <a:ext cx="5054600" cy="304800"/>
          </a:xfrm>
          <a:prstGeom prst="rect">
            <a:avLst/>
          </a:prstGeom>
          <a:noFill/>
        </p:spPr>
        <p:txBody>
          <a:bodyPr wrap="square" lIns="0" rIns="0" tIns="0" bIns="0">
            <a:spAutoFit/>
          </a:bodyPr>
          <a:lstStyle/>
          <a:p>
            <a:pPr algn="l">
              <a:defRPr i="0" sz="1600" b="1">
                <a:solidFill>
                  <a:srgbClr val="111827"/>
                </a:solidFill>
                <a:latin typeface="Albert Sans"/>
              </a:defRPr>
            </a:pPr>
            <a:r>
              <a:rPr i="0" sz="1600" b="1">
                <a:solidFill>
                  <a:srgbClr val="111827"/>
                </a:solidFill>
                <a:latin typeface="Albert Sans"/>
              </a:rPr>
              <a:t>AI Startups</a:t>
            </a:r>
          </a:p>
        </p:txBody>
      </p:sp>
      <p:sp>
        <p:nvSpPr>
          <p:cNvPr id="16" name="TextBox 15"/>
          <p:cNvSpPr txBox="1"/>
          <p:nvPr/>
        </p:nvSpPr>
        <p:spPr>
          <a:xfrm>
            <a:off x="10718800" y="2628900"/>
            <a:ext cx="5054600" cy="241300"/>
          </a:xfrm>
          <a:prstGeom prst="rect">
            <a:avLst/>
          </a:prstGeom>
          <a:noFill/>
        </p:spPr>
        <p:txBody>
          <a:bodyPr wrap="square" lIns="0" rIns="0" tIns="0" bIns="0">
            <a:spAutoFit/>
          </a:bodyPr>
          <a:lstStyle/>
          <a:p>
            <a:pPr algn="l">
              <a:defRPr i="0" sz="1200" b="0">
                <a:solidFill>
                  <a:srgbClr val="6B7280"/>
                </a:solidFill>
                <a:latin typeface="Albert Sans"/>
              </a:defRPr>
            </a:pPr>
            <a:r>
              <a:rPr i="0" sz="1200" b="0">
                <a:solidFill>
                  <a:srgbClr val="6B7280"/>
                </a:solidFill>
                <a:latin typeface="Albert Sans"/>
              </a:rPr>
              <a:t>A growing number of startups innovating in the AI space.</a:t>
            </a:r>
          </a:p>
        </p:txBody>
      </p:sp>
      <p:sp>
        <p:nvSpPr>
          <p:cNvPr id="17" name="Rounded Rectangle 16"/>
          <p:cNvSpPr/>
          <p:nvPr/>
        </p:nvSpPr>
        <p:spPr>
          <a:xfrm>
            <a:off x="7327900" y="3492500"/>
            <a:ext cx="8724900" cy="1460500"/>
          </a:xfrm>
          <a:prstGeom prst="roundRect">
            <a:avLst>
              <a:gd name="adj" fmla="val 15652"/>
            </a:avLst>
          </a:prstGeom>
          <a:solidFill>
            <a:srgbClr val="BFF4FF"/>
          </a:solidFill>
          <a:ln>
            <a:noFill/>
          </a:ln>
          <a:effectLst>
            <a:outerShdw blurRad="508000" dir="5400000" dist="203200" rotWithShape="0">
              <a:srgbClr val="000000">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8" name="TextBox 17"/>
          <p:cNvSpPr txBox="1"/>
          <p:nvPr/>
        </p:nvSpPr>
        <p:spPr>
          <a:xfrm>
            <a:off x="7632700" y="3746500"/>
            <a:ext cx="3111500" cy="762000"/>
          </a:xfrm>
          <a:prstGeom prst="rect">
            <a:avLst/>
          </a:prstGeom>
          <a:noFill/>
        </p:spPr>
        <p:txBody>
          <a:bodyPr wrap="square" lIns="0" rIns="0" tIns="0" bIns="0">
            <a:spAutoFit/>
          </a:bodyPr>
          <a:lstStyle/>
          <a:p>
            <a:pPr algn="l">
              <a:defRPr i="0" sz="4000" b="1">
                <a:solidFill>
                  <a:srgbClr val="111827"/>
                </a:solidFill>
                <a:latin typeface="Albert Sans"/>
              </a:defRPr>
            </a:pPr>
            <a:r>
              <a:rPr i="0" sz="4000" b="1">
                <a:solidFill>
                  <a:srgbClr val="111827"/>
                </a:solidFill>
                <a:latin typeface="Albert Sans"/>
              </a:rPr>
              <a:t>$500M</a:t>
            </a:r>
          </a:p>
        </p:txBody>
      </p:sp>
      <p:sp>
        <p:nvSpPr>
          <p:cNvPr id="19" name="TextBox 18"/>
          <p:cNvSpPr txBox="1"/>
          <p:nvPr/>
        </p:nvSpPr>
        <p:spPr>
          <a:xfrm>
            <a:off x="10718800" y="3746500"/>
            <a:ext cx="5054600" cy="304800"/>
          </a:xfrm>
          <a:prstGeom prst="rect">
            <a:avLst/>
          </a:prstGeom>
          <a:noFill/>
        </p:spPr>
        <p:txBody>
          <a:bodyPr wrap="square" lIns="0" rIns="0" tIns="0" bIns="0">
            <a:spAutoFit/>
          </a:bodyPr>
          <a:lstStyle/>
          <a:p>
            <a:pPr algn="l">
              <a:defRPr i="0" sz="1600" b="1">
                <a:solidFill>
                  <a:srgbClr val="111827"/>
                </a:solidFill>
                <a:latin typeface="Albert Sans"/>
              </a:defRPr>
            </a:pPr>
            <a:r>
              <a:rPr i="0" sz="1600" b="1">
                <a:solidFill>
                  <a:srgbClr val="111827"/>
                </a:solidFill>
                <a:latin typeface="Albert Sans"/>
              </a:rPr>
              <a:t>Venture Capital</a:t>
            </a:r>
          </a:p>
        </p:txBody>
      </p:sp>
      <p:sp>
        <p:nvSpPr>
          <p:cNvPr id="20" name="TextBox 19"/>
          <p:cNvSpPr txBox="1"/>
          <p:nvPr/>
        </p:nvSpPr>
        <p:spPr>
          <a:xfrm>
            <a:off x="10718800" y="4000500"/>
            <a:ext cx="5054600" cy="304800"/>
          </a:xfrm>
          <a:prstGeom prst="rect">
            <a:avLst/>
          </a:prstGeom>
          <a:noFill/>
        </p:spPr>
        <p:txBody>
          <a:bodyPr wrap="square" lIns="0" rIns="0" tIns="0" bIns="0">
            <a:spAutoFit/>
          </a:bodyPr>
          <a:lstStyle/>
          <a:p>
            <a:pPr algn="l">
              <a:defRPr i="0" sz="1600" b="1">
                <a:solidFill>
                  <a:srgbClr val="111827"/>
                </a:solidFill>
                <a:latin typeface="Albert Sans"/>
              </a:defRPr>
            </a:pPr>
            <a:r>
              <a:rPr i="0" sz="1600" b="1">
                <a:solidFill>
                  <a:srgbClr val="111827"/>
                </a:solidFill>
                <a:latin typeface="Albert Sans"/>
              </a:rPr>
              <a:t>Invested</a:t>
            </a:r>
          </a:p>
        </p:txBody>
      </p:sp>
      <p:sp>
        <p:nvSpPr>
          <p:cNvPr id="21" name="TextBox 20"/>
          <p:cNvSpPr txBox="1"/>
          <p:nvPr/>
        </p:nvSpPr>
        <p:spPr>
          <a:xfrm>
            <a:off x="10718800" y="4457700"/>
            <a:ext cx="5054600" cy="241300"/>
          </a:xfrm>
          <a:prstGeom prst="rect">
            <a:avLst/>
          </a:prstGeom>
          <a:noFill/>
        </p:spPr>
        <p:txBody>
          <a:bodyPr wrap="square" lIns="0" rIns="0" tIns="0" bIns="0">
            <a:spAutoFit/>
          </a:bodyPr>
          <a:lstStyle/>
          <a:p>
            <a:pPr algn="l">
              <a:defRPr i="0" sz="1200" b="0">
                <a:solidFill>
                  <a:srgbClr val="6B7280"/>
                </a:solidFill>
                <a:latin typeface="Albert Sans"/>
              </a:defRPr>
            </a:pPr>
            <a:r>
              <a:rPr i="0" sz="1200" b="0">
                <a:solidFill>
                  <a:srgbClr val="6B7280"/>
                </a:solidFill>
                <a:latin typeface="Albert Sans"/>
              </a:rPr>
              <a:t>Significant capital inflow supporting AI companies in the last year.</a:t>
            </a:r>
          </a:p>
        </p:txBody>
      </p:sp>
      <p:sp>
        <p:nvSpPr>
          <p:cNvPr id="22" name="TextBox 21"/>
          <p:cNvSpPr txBox="1"/>
          <p:nvPr/>
        </p:nvSpPr>
        <p:spPr>
          <a:xfrm>
            <a:off x="609600" y="8470900"/>
            <a:ext cx="1562100" cy="266700"/>
          </a:xfrm>
          <a:prstGeom prst="rect">
            <a:avLst/>
          </a:prstGeom>
          <a:noFill/>
        </p:spPr>
        <p:txBody>
          <a:bodyPr wrap="square" lIns="0" rIns="0" tIns="0" bIns="0">
            <a:spAutoFit/>
          </a:bodyPr>
          <a:lstStyle/>
          <a:p>
            <a:pPr algn="l">
              <a:defRPr i="0" sz="1400" b="0">
                <a:solidFill>
                  <a:srgbClr val="6B7280"/>
                </a:solidFill>
                <a:latin typeface="Albert Sans"/>
              </a:defRPr>
            </a:pPr>
            <a:r>
              <a:rPr i="0" sz="1400" b="0">
                <a:solidFill>
                  <a:srgbClr val="6B7280"/>
                </a:solidFill>
                <a:latin typeface="Albert Sans"/>
              </a:rPr>
              <a:t>www.denverai.com</a:t>
            </a:r>
          </a:p>
        </p:txBody>
      </p:sp>
      <p:sp>
        <p:nvSpPr>
          <p:cNvPr id="23" name="Rounded Rectangle 22"/>
          <p:cNvSpPr/>
          <p:nvPr/>
        </p:nvSpPr>
        <p:spPr>
          <a:xfrm>
            <a:off x="2451100" y="8597900"/>
            <a:ext cx="13195300" cy="25400"/>
          </a:xfrm>
          <a:prstGeom prst="roundRect">
            <a:avLst>
              <a:gd name="adj" fmla="val 200000"/>
            </a:avLst>
          </a:prstGeom>
          <a:solidFill>
            <a:srgbClr val="111827"/>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4" name="Rounded Rectangle 23"/>
          <p:cNvSpPr/>
          <p:nvPr/>
        </p:nvSpPr>
        <p:spPr>
          <a:xfrm>
            <a:off x="15455900" y="8293100"/>
            <a:ext cx="571500" cy="571500"/>
          </a:xfrm>
          <a:prstGeom prst="roundRect">
            <a:avLst>
              <a:gd name="adj" fmla="val 8888"/>
            </a:avLst>
          </a:prstGeom>
          <a:solidFill>
            <a:srgbClr val="111827"/>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600" y="203200"/>
            <a:ext cx="7239000" cy="1498600"/>
          </a:xfrm>
          <a:prstGeom prst="rect">
            <a:avLst/>
          </a:prstGeom>
          <a:noFill/>
        </p:spPr>
        <p:txBody>
          <a:bodyPr wrap="square" lIns="0" rIns="0" tIns="0" bIns="0">
            <a:spAutoFit/>
          </a:bodyPr>
          <a:lstStyle/>
          <a:p>
            <a:pPr algn="l">
              <a:lnSpc>
                <a:spcPct val="75000"/>
              </a:lnSpc>
              <a:defRPr i="0" sz="5600" b="1">
                <a:solidFill>
                  <a:srgbClr val="111827"/>
                </a:solidFill>
                <a:latin typeface="Albert Sans"/>
              </a:defRPr>
            </a:pPr>
            <a:r>
              <a:rPr i="0" sz="5600" b="1">
                <a:solidFill>
                  <a:srgbClr val="111827"/>
                </a:solidFill>
                <a:latin typeface="Albert Sans"/>
              </a:rPr>
              <a:t>AI Challenges &amp; Ethics</a:t>
            </a:r>
          </a:p>
        </p:txBody>
      </p:sp>
      <p:sp>
        <p:nvSpPr>
          <p:cNvPr id="3" name="TextBox 2"/>
          <p:cNvSpPr txBox="1"/>
          <p:nvPr/>
        </p:nvSpPr>
        <p:spPr>
          <a:xfrm>
            <a:off x="609600" y="2209800"/>
            <a:ext cx="6629400" cy="1092200"/>
          </a:xfrm>
          <a:prstGeom prst="rect">
            <a:avLst/>
          </a:prstGeom>
          <a:noFill/>
        </p:spPr>
        <p:txBody>
          <a:bodyPr wrap="square" lIns="0" rIns="0" tIns="0" bIns="0">
            <a:spAutoFit/>
          </a:bodyPr>
          <a:lstStyle/>
          <a:p>
            <a:pPr algn="l">
              <a:lnSpc>
                <a:spcPct val="150000"/>
              </a:lnSpc>
              <a:defRPr i="0" sz="1600" b="0">
                <a:solidFill>
                  <a:srgbClr val="6B7280"/>
                </a:solidFill>
                <a:latin typeface="Albert Sans"/>
              </a:defRPr>
            </a:pPr>
            <a:r>
              <a:rPr i="0" sz="1600" b="0">
                <a:solidFill>
                  <a:srgbClr val="6B7280"/>
                </a:solidFill>
                <a:latin typeface="Albert Sans"/>
              </a:rPr>
              <a:t>While AI offers immense potential, its integration introduces significant challenges and ethical considerations that require careful navigation.</a:t>
            </a:r>
          </a:p>
        </p:txBody>
      </p:sp>
      <p:sp>
        <p:nvSpPr>
          <p:cNvPr id="4" name="TextBox 3"/>
          <p:cNvSpPr txBox="1"/>
          <p:nvPr/>
        </p:nvSpPr>
        <p:spPr>
          <a:xfrm>
            <a:off x="8331200" y="203200"/>
            <a:ext cx="7848600" cy="457200"/>
          </a:xfrm>
          <a:prstGeom prst="rect">
            <a:avLst/>
          </a:prstGeom>
          <a:noFill/>
        </p:spPr>
        <p:txBody>
          <a:bodyPr wrap="square" lIns="0" rIns="0" tIns="0" bIns="0">
            <a:spAutoFit/>
          </a:bodyPr>
          <a:lstStyle/>
          <a:p>
            <a:pPr algn="l">
              <a:defRPr i="0" sz="2400" b="1">
                <a:solidFill>
                  <a:srgbClr val="111827"/>
                </a:solidFill>
                <a:latin typeface="Albert Sans"/>
              </a:defRPr>
            </a:pPr>
            <a:r>
              <a:rPr i="0" sz="2400" b="1">
                <a:solidFill>
                  <a:srgbClr val="111827"/>
                </a:solidFill>
                <a:latin typeface="Albert Sans"/>
              </a:rPr>
              <a:t>Job Displacement</a:t>
            </a:r>
          </a:p>
        </p:txBody>
      </p:sp>
      <p:sp>
        <p:nvSpPr>
          <p:cNvPr id="5" name="TextBox 4"/>
          <p:cNvSpPr txBox="1"/>
          <p:nvPr/>
        </p:nvSpPr>
        <p:spPr>
          <a:xfrm>
            <a:off x="8331200" y="812800"/>
            <a:ext cx="7848600" cy="1092200"/>
          </a:xfrm>
          <a:prstGeom prst="rect">
            <a:avLst/>
          </a:prstGeom>
          <a:noFill/>
        </p:spPr>
        <p:txBody>
          <a:bodyPr wrap="square" lIns="0" rIns="0" tIns="0" bIns="0">
            <a:spAutoFit/>
          </a:bodyPr>
          <a:lstStyle/>
          <a:p>
            <a:pPr algn="l">
              <a:lnSpc>
                <a:spcPct val="150000"/>
              </a:lnSpc>
              <a:defRPr i="0" sz="1600" b="0">
                <a:solidFill>
                  <a:srgbClr val="6B7280"/>
                </a:solidFill>
                <a:latin typeface="Albert Sans"/>
              </a:defRPr>
            </a:pPr>
            <a:r>
              <a:rPr i="0" sz="1600" b="0">
                <a:solidFill>
                  <a:srgbClr val="6B7280"/>
                </a:solidFill>
                <a:latin typeface="Albert Sans"/>
              </a:rPr>
              <a:t>Automation driven by AI could affect approximately 10-15% of jobs, particularly those involving repetitive tasks, necessitating proactive workforce adaptation strategies.</a:t>
            </a:r>
          </a:p>
        </p:txBody>
      </p:sp>
      <p:sp>
        <p:nvSpPr>
          <p:cNvPr id="6" name="TextBox 5"/>
          <p:cNvSpPr txBox="1"/>
          <p:nvPr/>
        </p:nvSpPr>
        <p:spPr>
          <a:xfrm>
            <a:off x="8331200" y="2209800"/>
            <a:ext cx="7848600" cy="457200"/>
          </a:xfrm>
          <a:prstGeom prst="rect">
            <a:avLst/>
          </a:prstGeom>
          <a:noFill/>
        </p:spPr>
        <p:txBody>
          <a:bodyPr wrap="square" lIns="0" rIns="0" tIns="0" bIns="0">
            <a:spAutoFit/>
          </a:bodyPr>
          <a:lstStyle/>
          <a:p>
            <a:pPr algn="l">
              <a:defRPr i="0" sz="2400" b="1">
                <a:solidFill>
                  <a:srgbClr val="111827"/>
                </a:solidFill>
                <a:latin typeface="Albert Sans"/>
              </a:defRPr>
            </a:pPr>
            <a:r>
              <a:rPr i="0" sz="2400" b="1">
                <a:solidFill>
                  <a:srgbClr val="111827"/>
                </a:solidFill>
                <a:latin typeface="Albert Sans"/>
              </a:rPr>
              <a:t>Data Privacy Concerns</a:t>
            </a:r>
          </a:p>
        </p:txBody>
      </p:sp>
      <p:sp>
        <p:nvSpPr>
          <p:cNvPr id="7" name="TextBox 6"/>
          <p:cNvSpPr txBox="1"/>
          <p:nvPr/>
        </p:nvSpPr>
        <p:spPr>
          <a:xfrm>
            <a:off x="8331200" y="2819400"/>
            <a:ext cx="7848600" cy="736600"/>
          </a:xfrm>
          <a:prstGeom prst="rect">
            <a:avLst/>
          </a:prstGeom>
          <a:noFill/>
        </p:spPr>
        <p:txBody>
          <a:bodyPr wrap="square" lIns="0" rIns="0" tIns="0" bIns="0">
            <a:spAutoFit/>
          </a:bodyPr>
          <a:lstStyle/>
          <a:p>
            <a:pPr algn="l">
              <a:lnSpc>
                <a:spcPct val="150000"/>
              </a:lnSpc>
              <a:defRPr i="0" sz="1600" b="0">
                <a:solidFill>
                  <a:srgbClr val="6B7280"/>
                </a:solidFill>
                <a:latin typeface="Albert Sans"/>
              </a:defRPr>
            </a:pPr>
            <a:r>
              <a:rPr i="0" sz="1600" b="0">
                <a:solidFill>
                  <a:srgbClr val="6B7280"/>
                </a:solidFill>
                <a:latin typeface="Albert Sans"/>
              </a:rPr>
              <a:t>The escalating use of AI intensifies concerns surrounding the security of sensitive data and the safeguarding of individuals' personal information.</a:t>
            </a:r>
          </a:p>
        </p:txBody>
      </p:sp>
      <p:sp>
        <p:nvSpPr>
          <p:cNvPr id="8" name="TextBox 7"/>
          <p:cNvSpPr txBox="1"/>
          <p:nvPr/>
        </p:nvSpPr>
        <p:spPr>
          <a:xfrm>
            <a:off x="8331200" y="3860800"/>
            <a:ext cx="7848600" cy="457200"/>
          </a:xfrm>
          <a:prstGeom prst="rect">
            <a:avLst/>
          </a:prstGeom>
          <a:noFill/>
        </p:spPr>
        <p:txBody>
          <a:bodyPr wrap="square" lIns="0" rIns="0" tIns="0" bIns="0">
            <a:spAutoFit/>
          </a:bodyPr>
          <a:lstStyle/>
          <a:p>
            <a:pPr algn="l">
              <a:defRPr i="0" sz="2400" b="1">
                <a:solidFill>
                  <a:srgbClr val="111827"/>
                </a:solidFill>
                <a:latin typeface="Albert Sans"/>
              </a:defRPr>
            </a:pPr>
            <a:r>
              <a:rPr i="0" sz="2400" b="1">
                <a:solidFill>
                  <a:srgbClr val="111827"/>
                </a:solidFill>
                <a:latin typeface="Albert Sans"/>
              </a:rPr>
              <a:t>Algorithmic Bias</a:t>
            </a:r>
          </a:p>
        </p:txBody>
      </p:sp>
      <p:sp>
        <p:nvSpPr>
          <p:cNvPr id="9" name="TextBox 8"/>
          <p:cNvSpPr txBox="1"/>
          <p:nvPr/>
        </p:nvSpPr>
        <p:spPr>
          <a:xfrm>
            <a:off x="8331200" y="4470400"/>
            <a:ext cx="7848600" cy="736600"/>
          </a:xfrm>
          <a:prstGeom prst="rect">
            <a:avLst/>
          </a:prstGeom>
          <a:noFill/>
        </p:spPr>
        <p:txBody>
          <a:bodyPr wrap="square" lIns="0" rIns="0" tIns="0" bIns="0">
            <a:spAutoFit/>
          </a:bodyPr>
          <a:lstStyle/>
          <a:p>
            <a:pPr algn="l">
              <a:lnSpc>
                <a:spcPct val="150000"/>
              </a:lnSpc>
              <a:defRPr i="0" sz="1600" b="0">
                <a:solidFill>
                  <a:srgbClr val="6B7280"/>
                </a:solidFill>
                <a:latin typeface="Albert Sans"/>
              </a:defRPr>
            </a:pPr>
            <a:r>
              <a:rPr i="0" sz="1600" b="0">
                <a:solidFill>
                  <a:srgbClr val="6B7280"/>
                </a:solidFill>
                <a:latin typeface="Albert Sans"/>
              </a:rPr>
              <a:t>Ensuring AI systems operate with fairness and equity is a complex, continuous challenge, demanding rigorous development and oversight.</a:t>
            </a:r>
          </a:p>
        </p:txBody>
      </p:sp>
      <p:sp>
        <p:nvSpPr>
          <p:cNvPr id="10" name="TextBox 9"/>
          <p:cNvSpPr txBox="1"/>
          <p:nvPr/>
        </p:nvSpPr>
        <p:spPr>
          <a:xfrm>
            <a:off x="609600" y="8470900"/>
            <a:ext cx="1930400" cy="266700"/>
          </a:xfrm>
          <a:prstGeom prst="rect">
            <a:avLst/>
          </a:prstGeom>
          <a:noFill/>
        </p:spPr>
        <p:txBody>
          <a:bodyPr wrap="square" lIns="0" rIns="0" tIns="0" bIns="0">
            <a:spAutoFit/>
          </a:bodyPr>
          <a:lstStyle/>
          <a:p>
            <a:pPr algn="l">
              <a:defRPr i="0" sz="1400" b="0">
                <a:solidFill>
                  <a:srgbClr val="6B7280"/>
                </a:solidFill>
                <a:latin typeface="Albert Sans"/>
              </a:defRPr>
            </a:pPr>
            <a:r>
              <a:rPr i="0" sz="1400" b="0">
                <a:solidFill>
                  <a:srgbClr val="6B7280"/>
                </a:solidFill>
                <a:latin typeface="Albert Sans"/>
              </a:rPr>
              <a:t>ai-ethics-initiatives.org</a:t>
            </a:r>
          </a:p>
        </p:txBody>
      </p:sp>
      <p:sp>
        <p:nvSpPr>
          <p:cNvPr id="11" name="Rounded Rectangle 10"/>
          <p:cNvSpPr/>
          <p:nvPr/>
        </p:nvSpPr>
        <p:spPr>
          <a:xfrm>
            <a:off x="2819400" y="8597900"/>
            <a:ext cx="12827000" cy="25400"/>
          </a:xfrm>
          <a:prstGeom prst="roundRect">
            <a:avLst>
              <a:gd name="adj" fmla="val 200000"/>
            </a:avLst>
          </a:prstGeom>
          <a:solidFill>
            <a:srgbClr val="111827"/>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2" name="Rounded Rectangle 11"/>
          <p:cNvSpPr/>
          <p:nvPr/>
        </p:nvSpPr>
        <p:spPr>
          <a:xfrm>
            <a:off x="15455900" y="8293100"/>
            <a:ext cx="571500" cy="571500"/>
          </a:xfrm>
          <a:prstGeom prst="roundRect">
            <a:avLst>
              <a:gd name="adj" fmla="val 8888"/>
            </a:avLst>
          </a:prstGeom>
          <a:solidFill>
            <a:srgbClr val="111827"/>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600" y="203200"/>
            <a:ext cx="7239000" cy="1498600"/>
          </a:xfrm>
          <a:prstGeom prst="rect">
            <a:avLst/>
          </a:prstGeom>
          <a:noFill/>
        </p:spPr>
        <p:txBody>
          <a:bodyPr wrap="square" lIns="0" rIns="0" tIns="0" bIns="0">
            <a:spAutoFit/>
          </a:bodyPr>
          <a:lstStyle/>
          <a:p>
            <a:pPr algn="l">
              <a:lnSpc>
                <a:spcPct val="75000"/>
              </a:lnSpc>
              <a:defRPr i="0" sz="5600" b="1">
                <a:solidFill>
                  <a:srgbClr val="111827"/>
                </a:solidFill>
                <a:latin typeface="Albert Sans"/>
              </a:defRPr>
            </a:pPr>
            <a:r>
              <a:rPr i="0" sz="5600" b="1">
                <a:solidFill>
                  <a:srgbClr val="111827"/>
                </a:solidFill>
                <a:latin typeface="Albert Sans"/>
              </a:rPr>
              <a:t>Infrastructure and Connectivity</a:t>
            </a:r>
          </a:p>
        </p:txBody>
      </p:sp>
      <p:sp>
        <p:nvSpPr>
          <p:cNvPr id="3" name="TextBox 2"/>
          <p:cNvSpPr txBox="1"/>
          <p:nvPr/>
        </p:nvSpPr>
        <p:spPr>
          <a:xfrm>
            <a:off x="609600" y="2209800"/>
            <a:ext cx="6629400" cy="736600"/>
          </a:xfrm>
          <a:prstGeom prst="rect">
            <a:avLst/>
          </a:prstGeom>
          <a:noFill/>
        </p:spPr>
        <p:txBody>
          <a:bodyPr wrap="square" lIns="0" rIns="0" tIns="0" bIns="0">
            <a:spAutoFit/>
          </a:bodyPr>
          <a:lstStyle/>
          <a:p>
            <a:pPr algn="l">
              <a:lnSpc>
                <a:spcPct val="150000"/>
              </a:lnSpc>
              <a:defRPr i="0" sz="1600" b="0">
                <a:solidFill>
                  <a:srgbClr val="6B7280"/>
                </a:solidFill>
                <a:latin typeface="Albert Sans"/>
              </a:defRPr>
            </a:pPr>
            <a:r>
              <a:rPr i="0" sz="1600" b="0">
                <a:solidFill>
                  <a:srgbClr val="6B7280"/>
                </a:solidFill>
                <a:latin typeface="Albert Sans"/>
              </a:rPr>
              <a:t>Robust digital infrastructure is crucial for AI advancement. Denver is investing in expanding its high-speed internet access to support AI.</a:t>
            </a:r>
          </a:p>
        </p:txBody>
      </p:sp>
      <p:sp>
        <p:nvSpPr>
          <p:cNvPr id="4" name="TextBox 3"/>
          <p:cNvSpPr txBox="1"/>
          <p:nvPr/>
        </p:nvSpPr>
        <p:spPr>
          <a:xfrm>
            <a:off x="8331200" y="203200"/>
            <a:ext cx="7848600" cy="457200"/>
          </a:xfrm>
          <a:prstGeom prst="rect">
            <a:avLst/>
          </a:prstGeom>
          <a:noFill/>
        </p:spPr>
        <p:txBody>
          <a:bodyPr wrap="square" lIns="0" rIns="0" tIns="0" bIns="0">
            <a:spAutoFit/>
          </a:bodyPr>
          <a:lstStyle/>
          <a:p>
            <a:pPr algn="l">
              <a:defRPr i="0" sz="2400" b="1">
                <a:solidFill>
                  <a:srgbClr val="111827"/>
                </a:solidFill>
                <a:latin typeface="Albert Sans"/>
              </a:defRPr>
            </a:pPr>
            <a:r>
              <a:rPr i="0" sz="2400" b="1">
                <a:solidFill>
                  <a:srgbClr val="111827"/>
                </a:solidFill>
                <a:latin typeface="Albert Sans"/>
              </a:rPr>
              <a:t>Expanding Broadband Coverage</a:t>
            </a:r>
          </a:p>
        </p:txBody>
      </p:sp>
      <p:sp>
        <p:nvSpPr>
          <p:cNvPr id="5" name="TextBox 4"/>
          <p:cNvSpPr txBox="1"/>
          <p:nvPr/>
        </p:nvSpPr>
        <p:spPr>
          <a:xfrm>
            <a:off x="8331200" y="812800"/>
            <a:ext cx="7848600" cy="1092200"/>
          </a:xfrm>
          <a:prstGeom prst="rect">
            <a:avLst/>
          </a:prstGeom>
          <a:noFill/>
        </p:spPr>
        <p:txBody>
          <a:bodyPr wrap="square" lIns="0" rIns="0" tIns="0" bIns="0">
            <a:spAutoFit/>
          </a:bodyPr>
          <a:lstStyle/>
          <a:p>
            <a:pPr algn="l">
              <a:lnSpc>
                <a:spcPct val="150000"/>
              </a:lnSpc>
              <a:defRPr i="0" sz="1600" b="0">
                <a:solidFill>
                  <a:srgbClr val="6B7280"/>
                </a:solidFill>
                <a:latin typeface="Albert Sans"/>
              </a:defRPr>
            </a:pPr>
            <a:r>
              <a:rPr i="0" sz="1600" b="0">
                <a:solidFill>
                  <a:srgbClr val="6B7280"/>
                </a:solidFill>
                <a:latin typeface="Albert Sans"/>
              </a:rPr>
              <a:t>Denver aims for </a:t>
            </a:r>
            <a:r>
              <a:rPr i="0" sz="1600" b="1">
                <a:solidFill>
                  <a:srgbClr val="6B7280"/>
                </a:solidFill>
                <a:latin typeface="Albert Sans"/>
              </a:rPr>
              <a:t>95% broadband coverage</a:t>
            </a:r>
            <a:r>
              <a:rPr i="0" sz="1600" b="0">
                <a:solidFill>
                  <a:srgbClr val="6B7280"/>
                </a:solidFill>
                <a:latin typeface="Albert Sans"/>
              </a:rPr>
              <a:t> by 2026, ensuring widespread access to the internet. This expansion is key to supporting the growing computational demands of AI technologies.</a:t>
            </a:r>
          </a:p>
        </p:txBody>
      </p:sp>
      <p:sp>
        <p:nvSpPr>
          <p:cNvPr id="6" name="TextBox 5"/>
          <p:cNvSpPr txBox="1"/>
          <p:nvPr/>
        </p:nvSpPr>
        <p:spPr>
          <a:xfrm>
            <a:off x="8331200" y="2209800"/>
            <a:ext cx="7848600" cy="457200"/>
          </a:xfrm>
          <a:prstGeom prst="rect">
            <a:avLst/>
          </a:prstGeom>
          <a:noFill/>
        </p:spPr>
        <p:txBody>
          <a:bodyPr wrap="square" lIns="0" rIns="0" tIns="0" bIns="0">
            <a:spAutoFit/>
          </a:bodyPr>
          <a:lstStyle/>
          <a:p>
            <a:pPr algn="l">
              <a:defRPr i="0" sz="2400" b="1">
                <a:solidFill>
                  <a:srgbClr val="111827"/>
                </a:solidFill>
                <a:latin typeface="Albert Sans"/>
              </a:defRPr>
            </a:pPr>
            <a:r>
              <a:rPr i="0" sz="2400" b="1">
                <a:solidFill>
                  <a:srgbClr val="111827"/>
                </a:solidFill>
                <a:latin typeface="Albert Sans"/>
              </a:rPr>
              <a:t>Facilitating AI Adoption</a:t>
            </a:r>
          </a:p>
        </p:txBody>
      </p:sp>
      <p:sp>
        <p:nvSpPr>
          <p:cNvPr id="7" name="TextBox 6"/>
          <p:cNvSpPr txBox="1"/>
          <p:nvPr/>
        </p:nvSpPr>
        <p:spPr>
          <a:xfrm>
            <a:off x="8331200" y="2819400"/>
            <a:ext cx="7848600" cy="1092200"/>
          </a:xfrm>
          <a:prstGeom prst="rect">
            <a:avLst/>
          </a:prstGeom>
          <a:noFill/>
        </p:spPr>
        <p:txBody>
          <a:bodyPr wrap="square" lIns="0" rIns="0" tIns="0" bIns="0">
            <a:spAutoFit/>
          </a:bodyPr>
          <a:lstStyle/>
          <a:p>
            <a:pPr algn="l">
              <a:lnSpc>
                <a:spcPct val="150000"/>
              </a:lnSpc>
              <a:defRPr i="0" sz="1600" b="0">
                <a:solidFill>
                  <a:srgbClr val="6B7280"/>
                </a:solidFill>
                <a:latin typeface="Albert Sans"/>
              </a:defRPr>
            </a:pPr>
            <a:r>
              <a:rPr i="0" sz="1600" b="0">
                <a:solidFill>
                  <a:srgbClr val="6B7280"/>
                </a:solidFill>
                <a:latin typeface="Albert Sans"/>
              </a:rPr>
              <a:t>Enhanced connectivity will enable broader adoption of AI across businesses and residences. It provides the necessary foundation for AI-powered services and innovations to flourish.</a:t>
            </a:r>
          </a:p>
        </p:txBody>
      </p:sp>
      <p:sp>
        <p:nvSpPr>
          <p:cNvPr id="8" name="TextBox 7"/>
          <p:cNvSpPr txBox="1"/>
          <p:nvPr/>
        </p:nvSpPr>
        <p:spPr>
          <a:xfrm>
            <a:off x="609600" y="8470900"/>
            <a:ext cx="2654300" cy="266700"/>
          </a:xfrm>
          <a:prstGeom prst="rect">
            <a:avLst/>
          </a:prstGeom>
          <a:noFill/>
        </p:spPr>
        <p:txBody>
          <a:bodyPr wrap="square" lIns="0" rIns="0" tIns="0" bIns="0">
            <a:spAutoFit/>
          </a:bodyPr>
          <a:lstStyle/>
          <a:p>
            <a:pPr algn="l">
              <a:defRPr i="0" sz="1400" b="0">
                <a:solidFill>
                  <a:srgbClr val="6B7280"/>
                </a:solidFill>
                <a:latin typeface="Albert Sans"/>
              </a:defRPr>
            </a:pPr>
            <a:r>
              <a:rPr i="0" sz="1400" b="0">
                <a:solidFill>
                  <a:srgbClr val="6B7280"/>
                </a:solidFill>
                <a:latin typeface="Albert Sans"/>
              </a:rPr>
              <a:t>www.denverai.gov/infrastructure</a:t>
            </a:r>
          </a:p>
        </p:txBody>
      </p:sp>
      <p:sp>
        <p:nvSpPr>
          <p:cNvPr id="9" name="Rounded Rectangle 8"/>
          <p:cNvSpPr/>
          <p:nvPr/>
        </p:nvSpPr>
        <p:spPr>
          <a:xfrm>
            <a:off x="3543300" y="8597900"/>
            <a:ext cx="12103100" cy="25400"/>
          </a:xfrm>
          <a:prstGeom prst="roundRect">
            <a:avLst>
              <a:gd name="adj" fmla="val 200000"/>
            </a:avLst>
          </a:prstGeom>
          <a:solidFill>
            <a:srgbClr val="111827"/>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0" name="Rounded Rectangle 9"/>
          <p:cNvSpPr/>
          <p:nvPr/>
        </p:nvSpPr>
        <p:spPr>
          <a:xfrm>
            <a:off x="15455900" y="8293100"/>
            <a:ext cx="571500" cy="571500"/>
          </a:xfrm>
          <a:prstGeom prst="roundRect">
            <a:avLst>
              <a:gd name="adj" fmla="val 8888"/>
            </a:avLst>
          </a:prstGeom>
          <a:solidFill>
            <a:srgbClr val="111827"/>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600" y="152400"/>
            <a:ext cx="15062200" cy="673100"/>
          </a:xfrm>
          <a:prstGeom prst="rect">
            <a:avLst/>
          </a:prstGeom>
          <a:noFill/>
        </p:spPr>
        <p:txBody>
          <a:bodyPr wrap="square" lIns="0" rIns="0" tIns="0" bIns="0">
            <a:spAutoFit/>
          </a:bodyPr>
          <a:lstStyle/>
          <a:p>
            <a:pPr algn="l">
              <a:lnSpc>
                <a:spcPct val="80000"/>
              </a:lnSpc>
              <a:defRPr i="0" sz="4800" b="1">
                <a:solidFill>
                  <a:srgbClr val="111827"/>
                </a:solidFill>
                <a:latin typeface="Albert Sans"/>
              </a:defRPr>
            </a:pPr>
            <a:r>
              <a:rPr i="0" sz="4800" b="1">
                <a:solidFill>
                  <a:srgbClr val="111827"/>
                </a:solidFill>
                <a:latin typeface="Albert Sans"/>
              </a:rPr>
              <a:t>Shaping Denver's AI Future</a:t>
            </a:r>
          </a:p>
        </p:txBody>
      </p:sp>
      <p:sp>
        <p:nvSpPr>
          <p:cNvPr id="3" name="TextBox 2"/>
          <p:cNvSpPr txBox="1"/>
          <p:nvPr/>
        </p:nvSpPr>
        <p:spPr>
          <a:xfrm>
            <a:off x="609600" y="977900"/>
            <a:ext cx="9677400" cy="609600"/>
          </a:xfrm>
          <a:prstGeom prst="rect">
            <a:avLst/>
          </a:prstGeom>
          <a:noFill/>
        </p:spPr>
        <p:txBody>
          <a:bodyPr wrap="square" lIns="0" rIns="0" tIns="0" bIns="0">
            <a:spAutoFit/>
          </a:bodyPr>
          <a:lstStyle/>
          <a:p>
            <a:pPr algn="l">
              <a:defRPr i="0" sz="1600" b="0">
                <a:solidFill>
                  <a:srgbClr val="6B7280"/>
                </a:solidFill>
                <a:latin typeface="Albert Sans"/>
              </a:defRPr>
            </a:pPr>
            <a:r>
              <a:rPr i="0" sz="1600" b="0">
                <a:solidFill>
                  <a:srgbClr val="6B7280"/>
                </a:solidFill>
                <a:latin typeface="Albert Sans"/>
              </a:rPr>
              <a:t>Local government initiatives are driving Denver's AI progress. Policies are being crafted to foster innovation and manage ethical considerations, focusing on AI ethics and workforce reskilling.</a:t>
            </a:r>
          </a:p>
        </p:txBody>
      </p:sp>
      <p:sp>
        <p:nvSpPr>
          <p:cNvPr id="4" name="Rounded Rectangle 3"/>
          <p:cNvSpPr/>
          <p:nvPr/>
        </p:nvSpPr>
        <p:spPr>
          <a:xfrm>
            <a:off x="0" y="6096000"/>
            <a:ext cx="16256000" cy="2032000"/>
          </a:xfrm>
          <a:prstGeom prst="roundRect">
            <a:avLst>
              <a:gd name="adj" fmla="val 2500"/>
            </a:avLst>
          </a:prstGeom>
          <a:solidFill>
            <a:srgbClr val="BFF4FF"/>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5" name="Rounded Rectangle 4"/>
          <p:cNvSpPr/>
          <p:nvPr/>
        </p:nvSpPr>
        <p:spPr>
          <a:xfrm>
            <a:off x="2870200" y="1993900"/>
            <a:ext cx="3302000" cy="3263900"/>
          </a:xfrm>
          <a:prstGeom prst="roundRect">
            <a:avLst>
              <a:gd name="adj" fmla="val 8560"/>
            </a:avLst>
          </a:prstGeom>
          <a:solidFill>
            <a:srgbClr val="BFF4FF"/>
          </a:solidFill>
          <a:ln>
            <a:noFill/>
          </a:ln>
          <a:effectLst>
            <a:outerShdw blurRad="508000" dir="5400000" dist="203200" rotWithShape="0">
              <a:srgbClr val="000000">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6" name="Rounded Rectangle 5"/>
          <p:cNvSpPr/>
          <p:nvPr/>
        </p:nvSpPr>
        <p:spPr>
          <a:xfrm>
            <a:off x="3175000" y="2247900"/>
            <a:ext cx="508000" cy="508000"/>
          </a:xfrm>
          <a:prstGeom prst="roundRect">
            <a:avLst>
              <a:gd name="adj" fmla="val 10000"/>
            </a:avLst>
          </a:prstGeom>
          <a:solidFill>
            <a:srgbClr val="FFFFFF"/>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7" name="Picture 6" descr="7d01838d-70f2-4657-907f-49d79c7cedd9.png"/>
          <p:cNvPicPr>
            <a:picLocks noChangeAspect="1"/>
          </p:cNvPicPr>
          <p:nvPr/>
        </p:nvPicPr>
        <p:blipFill>
          <a:blip r:embed="rId3"/>
          <a:stretch>
            <a:fillRect/>
          </a:stretch>
        </p:blipFill>
        <p:spPr>
          <a:xfrm>
            <a:off x="3276600" y="2349500"/>
            <a:ext cx="304800" cy="304800"/>
          </a:xfrm>
          <a:prstGeom prst="rect">
            <a:avLst/>
          </a:prstGeom>
        </p:spPr>
      </p:pic>
      <p:sp>
        <p:nvSpPr>
          <p:cNvPr id="8" name="TextBox 7"/>
          <p:cNvSpPr txBox="1"/>
          <p:nvPr/>
        </p:nvSpPr>
        <p:spPr>
          <a:xfrm>
            <a:off x="3175000" y="2959100"/>
            <a:ext cx="2717800" cy="342900"/>
          </a:xfrm>
          <a:prstGeom prst="rect">
            <a:avLst/>
          </a:prstGeom>
          <a:noFill/>
        </p:spPr>
        <p:txBody>
          <a:bodyPr wrap="square" lIns="0" rIns="0" tIns="0" bIns="0">
            <a:spAutoFit/>
          </a:bodyPr>
          <a:lstStyle/>
          <a:p>
            <a:pPr algn="l">
              <a:defRPr i="0" sz="1800" b="1">
                <a:solidFill>
                  <a:srgbClr val="111827"/>
                </a:solidFill>
                <a:latin typeface="Albert Sans"/>
              </a:defRPr>
            </a:pPr>
            <a:r>
              <a:rPr i="0" sz="1800" b="1">
                <a:solidFill>
                  <a:srgbClr val="111827"/>
                </a:solidFill>
                <a:latin typeface="Albert Sans"/>
              </a:rPr>
              <a:t>AI Ethics Guidelines</a:t>
            </a:r>
          </a:p>
        </p:txBody>
      </p:sp>
      <p:sp>
        <p:nvSpPr>
          <p:cNvPr id="9" name="TextBox 8"/>
          <p:cNvSpPr txBox="1"/>
          <p:nvPr/>
        </p:nvSpPr>
        <p:spPr>
          <a:xfrm>
            <a:off x="3175000" y="3454400"/>
            <a:ext cx="2717800" cy="1206500"/>
          </a:xfrm>
          <a:prstGeom prst="rect">
            <a:avLst/>
          </a:prstGeom>
          <a:noFill/>
        </p:spPr>
        <p:txBody>
          <a:bodyPr wrap="square" lIns="0" rIns="0" tIns="0" bIns="0">
            <a:spAutoFit/>
          </a:bodyPr>
          <a:lstStyle/>
          <a:p>
            <a:pPr algn="l">
              <a:lnSpc>
                <a:spcPct val="140000"/>
              </a:lnSpc>
              <a:defRPr i="0" sz="1400" b="0">
                <a:solidFill>
                  <a:srgbClr val="6B7280"/>
                </a:solidFill>
                <a:latin typeface="Albert Sans"/>
              </a:defRPr>
            </a:pPr>
            <a:r>
              <a:rPr i="0" sz="1400" b="0">
                <a:solidFill>
                  <a:srgbClr val="6B7280"/>
                </a:solidFill>
                <a:latin typeface="Albert Sans"/>
              </a:rPr>
              <a:t>Developing comprehensive ethical frameworks to ensure responsible AI deployment and use within the city.</a:t>
            </a:r>
          </a:p>
        </p:txBody>
      </p:sp>
      <p:sp>
        <p:nvSpPr>
          <p:cNvPr id="10" name="Rounded Rectangle 9"/>
          <p:cNvSpPr/>
          <p:nvPr/>
        </p:nvSpPr>
        <p:spPr>
          <a:xfrm>
            <a:off x="6477000" y="1993900"/>
            <a:ext cx="3302000" cy="3263900"/>
          </a:xfrm>
          <a:prstGeom prst="roundRect">
            <a:avLst>
              <a:gd name="adj" fmla="val 8560"/>
            </a:avLst>
          </a:prstGeom>
          <a:solidFill>
            <a:srgbClr val="BFF4FF"/>
          </a:solidFill>
          <a:ln>
            <a:noFill/>
          </a:ln>
          <a:effectLst>
            <a:outerShdw blurRad="508000" dir="5400000" dist="203200" rotWithShape="0">
              <a:srgbClr val="000000">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1" name="Rounded Rectangle 10"/>
          <p:cNvSpPr/>
          <p:nvPr/>
        </p:nvSpPr>
        <p:spPr>
          <a:xfrm>
            <a:off x="6781800" y="2247900"/>
            <a:ext cx="508000" cy="508000"/>
          </a:xfrm>
          <a:prstGeom prst="roundRect">
            <a:avLst>
              <a:gd name="adj" fmla="val 10000"/>
            </a:avLst>
          </a:prstGeom>
          <a:solidFill>
            <a:srgbClr val="FFFFFF"/>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12" name="Picture 11" descr="30493d26-aa3f-4fb4-9ce1-b54eb9dd5a0e.png"/>
          <p:cNvPicPr>
            <a:picLocks noChangeAspect="1"/>
          </p:cNvPicPr>
          <p:nvPr/>
        </p:nvPicPr>
        <p:blipFill>
          <a:blip r:embed="rId4"/>
          <a:stretch>
            <a:fillRect/>
          </a:stretch>
        </p:blipFill>
        <p:spPr>
          <a:xfrm>
            <a:off x="6883400" y="2349500"/>
            <a:ext cx="304800" cy="304800"/>
          </a:xfrm>
          <a:prstGeom prst="rect">
            <a:avLst/>
          </a:prstGeom>
        </p:spPr>
      </p:pic>
      <p:sp>
        <p:nvSpPr>
          <p:cNvPr id="13" name="TextBox 12"/>
          <p:cNvSpPr txBox="1"/>
          <p:nvPr/>
        </p:nvSpPr>
        <p:spPr>
          <a:xfrm>
            <a:off x="6781800" y="2959100"/>
            <a:ext cx="2717800" cy="685800"/>
          </a:xfrm>
          <a:prstGeom prst="rect">
            <a:avLst/>
          </a:prstGeom>
          <a:noFill/>
        </p:spPr>
        <p:txBody>
          <a:bodyPr wrap="square" lIns="0" rIns="0" tIns="0" bIns="0">
            <a:spAutoFit/>
          </a:bodyPr>
          <a:lstStyle/>
          <a:p>
            <a:pPr algn="l">
              <a:defRPr i="0" sz="1800" b="1">
                <a:solidFill>
                  <a:srgbClr val="111827"/>
                </a:solidFill>
                <a:latin typeface="Albert Sans"/>
              </a:defRPr>
            </a:pPr>
            <a:r>
              <a:rPr i="0" sz="1800" b="1">
                <a:solidFill>
                  <a:srgbClr val="111827"/>
                </a:solidFill>
                <a:latin typeface="Albert Sans"/>
              </a:rPr>
              <a:t>Workforce Reskilling Grants</a:t>
            </a:r>
          </a:p>
        </p:txBody>
      </p:sp>
      <p:sp>
        <p:nvSpPr>
          <p:cNvPr id="14" name="TextBox 13"/>
          <p:cNvSpPr txBox="1"/>
          <p:nvPr/>
        </p:nvSpPr>
        <p:spPr>
          <a:xfrm>
            <a:off x="6781800" y="3797300"/>
            <a:ext cx="2717800" cy="1206500"/>
          </a:xfrm>
          <a:prstGeom prst="rect">
            <a:avLst/>
          </a:prstGeom>
          <a:noFill/>
        </p:spPr>
        <p:txBody>
          <a:bodyPr wrap="square" lIns="0" rIns="0" tIns="0" bIns="0">
            <a:spAutoFit/>
          </a:bodyPr>
          <a:lstStyle/>
          <a:p>
            <a:pPr algn="l">
              <a:lnSpc>
                <a:spcPct val="140000"/>
              </a:lnSpc>
              <a:defRPr i="0" sz="1400" b="0">
                <a:solidFill>
                  <a:srgbClr val="6B7280"/>
                </a:solidFill>
                <a:latin typeface="Albert Sans"/>
              </a:defRPr>
            </a:pPr>
            <a:r>
              <a:rPr i="0" sz="1400" b="0">
                <a:solidFill>
                  <a:srgbClr val="6B7280"/>
                </a:solidFill>
                <a:latin typeface="Albert Sans"/>
              </a:rPr>
              <a:t>Providing financial support and training programs to help residents adapt to AI-driven economic changes.</a:t>
            </a:r>
          </a:p>
        </p:txBody>
      </p:sp>
      <p:sp>
        <p:nvSpPr>
          <p:cNvPr id="15" name="Rounded Rectangle 14"/>
          <p:cNvSpPr/>
          <p:nvPr/>
        </p:nvSpPr>
        <p:spPr>
          <a:xfrm>
            <a:off x="10083800" y="1993900"/>
            <a:ext cx="3302000" cy="3263900"/>
          </a:xfrm>
          <a:prstGeom prst="roundRect">
            <a:avLst>
              <a:gd name="adj" fmla="val 8560"/>
            </a:avLst>
          </a:prstGeom>
          <a:solidFill>
            <a:srgbClr val="BFF4FF"/>
          </a:solidFill>
          <a:ln>
            <a:noFill/>
          </a:ln>
          <a:effectLst>
            <a:outerShdw blurRad="508000" dir="5400000" dist="203200" rotWithShape="0">
              <a:srgbClr val="000000">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6" name="Rounded Rectangle 15"/>
          <p:cNvSpPr/>
          <p:nvPr/>
        </p:nvSpPr>
        <p:spPr>
          <a:xfrm>
            <a:off x="10388600" y="2247900"/>
            <a:ext cx="508000" cy="508000"/>
          </a:xfrm>
          <a:prstGeom prst="roundRect">
            <a:avLst>
              <a:gd name="adj" fmla="val 10000"/>
            </a:avLst>
          </a:prstGeom>
          <a:solidFill>
            <a:srgbClr val="FFFFFF"/>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17" name="Picture 16" descr="4bd7e8fb-8c0e-4d04-b2b7-7ea5b3dc8b30.png"/>
          <p:cNvPicPr>
            <a:picLocks noChangeAspect="1"/>
          </p:cNvPicPr>
          <p:nvPr/>
        </p:nvPicPr>
        <p:blipFill>
          <a:blip r:embed="rId5"/>
          <a:stretch>
            <a:fillRect/>
          </a:stretch>
        </p:blipFill>
        <p:spPr>
          <a:xfrm>
            <a:off x="10490200" y="2349500"/>
            <a:ext cx="304800" cy="304800"/>
          </a:xfrm>
          <a:prstGeom prst="rect">
            <a:avLst/>
          </a:prstGeom>
        </p:spPr>
      </p:pic>
      <p:sp>
        <p:nvSpPr>
          <p:cNvPr id="18" name="TextBox 17"/>
          <p:cNvSpPr txBox="1"/>
          <p:nvPr/>
        </p:nvSpPr>
        <p:spPr>
          <a:xfrm>
            <a:off x="10388600" y="2959100"/>
            <a:ext cx="2717800" cy="342900"/>
          </a:xfrm>
          <a:prstGeom prst="rect">
            <a:avLst/>
          </a:prstGeom>
          <a:noFill/>
        </p:spPr>
        <p:txBody>
          <a:bodyPr wrap="square" lIns="0" rIns="0" tIns="0" bIns="0">
            <a:spAutoFit/>
          </a:bodyPr>
          <a:lstStyle/>
          <a:p>
            <a:pPr algn="l">
              <a:defRPr i="0" sz="1800" b="1">
                <a:solidFill>
                  <a:srgbClr val="111827"/>
                </a:solidFill>
                <a:latin typeface="Albert Sans"/>
              </a:defRPr>
            </a:pPr>
            <a:r>
              <a:rPr i="0" sz="1800" b="1">
                <a:solidFill>
                  <a:srgbClr val="111827"/>
                </a:solidFill>
                <a:latin typeface="Albert Sans"/>
              </a:rPr>
              <a:t>Innovation Hubs</a:t>
            </a:r>
          </a:p>
        </p:txBody>
      </p:sp>
      <p:sp>
        <p:nvSpPr>
          <p:cNvPr id="19" name="TextBox 18"/>
          <p:cNvSpPr txBox="1"/>
          <p:nvPr/>
        </p:nvSpPr>
        <p:spPr>
          <a:xfrm>
            <a:off x="10388600" y="3454400"/>
            <a:ext cx="2717800" cy="1206500"/>
          </a:xfrm>
          <a:prstGeom prst="rect">
            <a:avLst/>
          </a:prstGeom>
          <a:noFill/>
        </p:spPr>
        <p:txBody>
          <a:bodyPr wrap="square" lIns="0" rIns="0" tIns="0" bIns="0">
            <a:spAutoFit/>
          </a:bodyPr>
          <a:lstStyle/>
          <a:p>
            <a:pPr algn="l">
              <a:lnSpc>
                <a:spcPct val="140000"/>
              </a:lnSpc>
              <a:defRPr i="0" sz="1400" b="0">
                <a:solidFill>
                  <a:srgbClr val="6B7280"/>
                </a:solidFill>
                <a:latin typeface="Albert Sans"/>
              </a:defRPr>
            </a:pPr>
            <a:r>
              <a:rPr i="0" sz="1400" b="0">
                <a:solidFill>
                  <a:srgbClr val="6B7280"/>
                </a:solidFill>
                <a:latin typeface="Albert Sans"/>
              </a:rPr>
              <a:t>Supporting the creation of collaborative spaces for AI research, development, and business incubation.</a:t>
            </a:r>
          </a:p>
        </p:txBody>
      </p:sp>
      <p:sp>
        <p:nvSpPr>
          <p:cNvPr id="20" name="TextBox 19"/>
          <p:cNvSpPr txBox="1"/>
          <p:nvPr/>
        </p:nvSpPr>
        <p:spPr>
          <a:xfrm>
            <a:off x="609600" y="8470900"/>
            <a:ext cx="1993900" cy="266700"/>
          </a:xfrm>
          <a:prstGeom prst="rect">
            <a:avLst/>
          </a:prstGeom>
          <a:noFill/>
        </p:spPr>
        <p:txBody>
          <a:bodyPr wrap="square" lIns="0" rIns="0" tIns="0" bIns="0">
            <a:spAutoFit/>
          </a:bodyPr>
          <a:lstStyle/>
          <a:p>
            <a:pPr algn="l">
              <a:defRPr i="0" sz="1400" b="0">
                <a:solidFill>
                  <a:srgbClr val="6B7280"/>
                </a:solidFill>
                <a:latin typeface="Albert Sans"/>
              </a:defRPr>
            </a:pPr>
            <a:r>
              <a:rPr i="0" sz="1400" b="0">
                <a:solidFill>
                  <a:srgbClr val="6B7280"/>
                </a:solidFill>
                <a:latin typeface="Albert Sans"/>
              </a:rPr>
              <a:t>denver.gov/ai-initiatives</a:t>
            </a:r>
          </a:p>
        </p:txBody>
      </p:sp>
      <p:sp>
        <p:nvSpPr>
          <p:cNvPr id="21" name="Rounded Rectangle 20"/>
          <p:cNvSpPr/>
          <p:nvPr/>
        </p:nvSpPr>
        <p:spPr>
          <a:xfrm>
            <a:off x="2882900" y="8597900"/>
            <a:ext cx="12763500" cy="25400"/>
          </a:xfrm>
          <a:prstGeom prst="roundRect">
            <a:avLst>
              <a:gd name="adj" fmla="val 200000"/>
            </a:avLst>
          </a:prstGeom>
          <a:solidFill>
            <a:srgbClr val="111827"/>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2" name="Rounded Rectangle 21"/>
          <p:cNvSpPr/>
          <p:nvPr/>
        </p:nvSpPr>
        <p:spPr>
          <a:xfrm>
            <a:off x="15455900" y="8293100"/>
            <a:ext cx="571500" cy="571500"/>
          </a:xfrm>
          <a:prstGeom prst="roundRect">
            <a:avLst>
              <a:gd name="adj" fmla="val 8888"/>
            </a:avLst>
          </a:prstGeom>
          <a:solidFill>
            <a:srgbClr val="111827"/>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4e08c138-afa1-4db5-9481-ec24199d5429.png"/>
          <p:cNvPicPr>
            <a:picLocks noChangeAspect="1"/>
          </p:cNvPicPr>
          <p:nvPr/>
        </p:nvPicPr>
        <p:blipFill>
          <a:blip r:embed="rId3"/>
          <a:stretch>
            <a:fillRect/>
          </a:stretch>
        </p:blipFill>
        <p:spPr>
          <a:xfrm>
            <a:off x="10401300" y="0"/>
            <a:ext cx="5854700" cy="6604000"/>
          </a:xfrm>
          <a:prstGeom prst="rect">
            <a:avLst/>
          </a:prstGeom>
        </p:spPr>
      </p:pic>
      <p:sp>
        <p:nvSpPr>
          <p:cNvPr id="3" name="Rounded Rectangle 2"/>
          <p:cNvSpPr/>
          <p:nvPr/>
        </p:nvSpPr>
        <p:spPr>
          <a:xfrm>
            <a:off x="9893300" y="381000"/>
            <a:ext cx="215900" cy="215900"/>
          </a:xfrm>
          <a:prstGeom prst="roundRect">
            <a:avLst>
              <a:gd name="adj" fmla="val 23529"/>
            </a:avLst>
          </a:prstGeom>
          <a:solidFill>
            <a:srgbClr val="111827"/>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4" name="Rounded Rectangle 3"/>
          <p:cNvSpPr/>
          <p:nvPr/>
        </p:nvSpPr>
        <p:spPr>
          <a:xfrm>
            <a:off x="9893300" y="685800"/>
            <a:ext cx="215900" cy="215900"/>
          </a:xfrm>
          <a:prstGeom prst="roundRect">
            <a:avLst>
              <a:gd name="adj" fmla="val 23529"/>
            </a:avLst>
          </a:prstGeom>
          <a:solidFill>
            <a:srgbClr val="111827"/>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5" name="Rounded Rectangle 4"/>
          <p:cNvSpPr/>
          <p:nvPr/>
        </p:nvSpPr>
        <p:spPr>
          <a:xfrm>
            <a:off x="9893300" y="990600"/>
            <a:ext cx="215900" cy="215900"/>
          </a:xfrm>
          <a:prstGeom prst="roundRect">
            <a:avLst>
              <a:gd name="adj" fmla="val 23529"/>
            </a:avLst>
          </a:prstGeom>
          <a:solidFill>
            <a:srgbClr val="111827"/>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6" name="TextBox 5"/>
          <p:cNvSpPr txBox="1"/>
          <p:nvPr/>
        </p:nvSpPr>
        <p:spPr>
          <a:xfrm>
            <a:off x="609600" y="406400"/>
            <a:ext cx="8750300" cy="2565400"/>
          </a:xfrm>
          <a:prstGeom prst="rect">
            <a:avLst/>
          </a:prstGeom>
          <a:noFill/>
        </p:spPr>
        <p:txBody>
          <a:bodyPr wrap="square" lIns="0" rIns="0" tIns="0" bIns="0">
            <a:spAutoFit/>
          </a:bodyPr>
          <a:lstStyle/>
          <a:p>
            <a:pPr algn="l">
              <a:lnSpc>
                <a:spcPct val="75000"/>
              </a:lnSpc>
              <a:defRPr i="0" sz="6400" b="1">
                <a:solidFill>
                  <a:srgbClr val="111827"/>
                </a:solidFill>
                <a:latin typeface="Albert Sans"/>
              </a:defRPr>
            </a:pPr>
            <a:r>
              <a:rPr i="0" sz="6400" b="1">
                <a:solidFill>
                  <a:srgbClr val="111827"/>
                </a:solidFill>
                <a:latin typeface="Albert Sans"/>
              </a:rPr>
              <a:t>Denver's Future Outlook: A Leading AI City</a:t>
            </a:r>
          </a:p>
        </p:txBody>
      </p:sp>
      <p:sp>
        <p:nvSpPr>
          <p:cNvPr id="7" name="TextBox 6"/>
          <p:cNvSpPr txBox="1"/>
          <p:nvPr/>
        </p:nvSpPr>
        <p:spPr>
          <a:xfrm>
            <a:off x="609600" y="3225800"/>
            <a:ext cx="7899400" cy="1625600"/>
          </a:xfrm>
          <a:prstGeom prst="rect">
            <a:avLst/>
          </a:prstGeom>
          <a:noFill/>
        </p:spPr>
        <p:txBody>
          <a:bodyPr wrap="square" lIns="0" rIns="0" tIns="0" bIns="0">
            <a:spAutoFit/>
          </a:bodyPr>
          <a:lstStyle/>
          <a:p>
            <a:pPr algn="l">
              <a:lnSpc>
                <a:spcPct val="130000"/>
              </a:lnSpc>
              <a:defRPr i="0" sz="1600" b="0">
                <a:solidFill>
                  <a:srgbClr val="6B7280"/>
                </a:solidFill>
                <a:latin typeface="Albert Sans"/>
              </a:defRPr>
            </a:pPr>
            <a:r>
              <a:rPr i="0" sz="1600" b="0">
                <a:solidFill>
                  <a:srgbClr val="6B7280"/>
                </a:solidFill>
                <a:latin typeface="Albert Sans"/>
              </a:rPr>
              <a:t>Denver is strategically positioned to become a premier hub for AI adoption and innovation. Through sustained investment, forward-thinking policies, and a strong emphasis on talent development, the city's AI sector is projected to expand by an impressive </a:t>
            </a:r>
            <a:r>
              <a:rPr i="0" sz="1600" b="1">
                <a:solidFill>
                  <a:srgbClr val="6B7280"/>
                </a:solidFill>
                <a:latin typeface="Albert Sans"/>
              </a:rPr>
              <a:t>200%</a:t>
            </a:r>
            <a:r>
              <a:rPr i="0" sz="1600" b="0">
                <a:solidFill>
                  <a:srgbClr val="6B7280"/>
                </a:solidFill>
                <a:latin typeface="Albert Sans"/>
              </a:rPr>
              <a:t> in the coming decade. This growth will significantly enhance economic prosperity and accelerate technological progress.</a:t>
            </a:r>
          </a:p>
        </p:txBody>
      </p:sp>
      <p:sp>
        <p:nvSpPr>
          <p:cNvPr id="8" name="Rounded Rectangle 7"/>
          <p:cNvSpPr/>
          <p:nvPr/>
        </p:nvSpPr>
        <p:spPr>
          <a:xfrm>
            <a:off x="609600" y="5156200"/>
            <a:ext cx="4152900" cy="635000"/>
          </a:xfrm>
          <a:prstGeom prst="roundRect">
            <a:avLst>
              <a:gd name="adj" fmla="val 8000"/>
            </a:avLst>
          </a:prstGeom>
          <a:solidFill>
            <a:srgbClr val="BFF4FF"/>
          </a:solidFill>
          <a:ln w="12700">
            <a:solidFill>
              <a:srgbClr val="BFF4FF"/>
            </a:solid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9" name="Rounded Rectangle 8"/>
          <p:cNvSpPr/>
          <p:nvPr/>
        </p:nvSpPr>
        <p:spPr>
          <a:xfrm>
            <a:off x="825500" y="5321300"/>
            <a:ext cx="101600" cy="304800"/>
          </a:xfrm>
          <a:prstGeom prst="roundRect">
            <a:avLst>
              <a:gd name="adj" fmla="val 50000"/>
            </a:avLst>
          </a:prstGeom>
          <a:solidFill>
            <a:srgbClr val="111827"/>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0" name="TextBox 9"/>
          <p:cNvSpPr txBox="1"/>
          <p:nvPr/>
        </p:nvSpPr>
        <p:spPr>
          <a:xfrm>
            <a:off x="1130300" y="5321300"/>
            <a:ext cx="1828800" cy="304800"/>
          </a:xfrm>
          <a:prstGeom prst="rect">
            <a:avLst/>
          </a:prstGeom>
          <a:noFill/>
        </p:spPr>
        <p:txBody>
          <a:bodyPr wrap="square" lIns="0" rIns="0" tIns="0" bIns="0">
            <a:spAutoFit/>
          </a:bodyPr>
          <a:lstStyle/>
          <a:p>
            <a:pPr algn="l">
              <a:defRPr i="0" sz="1600" b="1">
                <a:solidFill>
                  <a:srgbClr val="111827"/>
                </a:solidFill>
                <a:latin typeface="Albert Sans"/>
              </a:defRPr>
            </a:pPr>
            <a:r>
              <a:rPr i="0" sz="1600" b="1">
                <a:solidFill>
                  <a:srgbClr val="111827"/>
                </a:solidFill>
                <a:latin typeface="Albert Sans"/>
              </a:rPr>
              <a:t>Denver AI Initiative</a:t>
            </a:r>
          </a:p>
        </p:txBody>
      </p:sp>
      <p:sp>
        <p:nvSpPr>
          <p:cNvPr id="11" name="TextBox 10"/>
          <p:cNvSpPr txBox="1"/>
          <p:nvPr/>
        </p:nvSpPr>
        <p:spPr>
          <a:xfrm>
            <a:off x="3086100" y="5346700"/>
            <a:ext cx="1485900" cy="266700"/>
          </a:xfrm>
          <a:prstGeom prst="rect">
            <a:avLst/>
          </a:prstGeom>
          <a:noFill/>
        </p:spPr>
        <p:txBody>
          <a:bodyPr wrap="square" lIns="0" rIns="0" tIns="0" bIns="0">
            <a:spAutoFit/>
          </a:bodyPr>
          <a:lstStyle/>
          <a:p>
            <a:pPr algn="l">
              <a:defRPr i="0" sz="1400" b="0">
                <a:solidFill>
                  <a:srgbClr val="6B7280"/>
                </a:solidFill>
                <a:latin typeface="Albert Sans"/>
              </a:defRPr>
            </a:pPr>
            <a:r>
              <a:rPr i="0" sz="1400" b="0">
                <a:solidFill>
                  <a:srgbClr val="6B7280"/>
                </a:solidFill>
                <a:latin typeface="Albert Sans"/>
              </a:rPr>
              <a:t>February 10, 2026</a:t>
            </a:r>
          </a:p>
        </p:txBody>
      </p:sp>
      <p:sp>
        <p:nvSpPr>
          <p:cNvPr id="12" name="TextBox 11"/>
          <p:cNvSpPr txBox="1"/>
          <p:nvPr/>
        </p:nvSpPr>
        <p:spPr>
          <a:xfrm>
            <a:off x="609600" y="8470900"/>
            <a:ext cx="1498600" cy="266700"/>
          </a:xfrm>
          <a:prstGeom prst="rect">
            <a:avLst/>
          </a:prstGeom>
          <a:noFill/>
        </p:spPr>
        <p:txBody>
          <a:bodyPr wrap="square" lIns="0" rIns="0" tIns="0" bIns="0">
            <a:spAutoFit/>
          </a:bodyPr>
          <a:lstStyle/>
          <a:p>
            <a:pPr algn="l">
              <a:defRPr i="0" sz="1400" b="0">
                <a:solidFill>
                  <a:srgbClr val="6B7280"/>
                </a:solidFill>
                <a:latin typeface="Albert Sans"/>
              </a:defRPr>
            </a:pPr>
            <a:r>
              <a:rPr i="0" sz="1400" b="0">
                <a:solidFill>
                  <a:srgbClr val="6B7280"/>
                </a:solidFill>
                <a:latin typeface="Albert Sans"/>
              </a:rPr>
              <a:t>www.denverai.gov</a:t>
            </a:r>
          </a:p>
        </p:txBody>
      </p:sp>
      <p:sp>
        <p:nvSpPr>
          <p:cNvPr id="13" name="Rounded Rectangle 12"/>
          <p:cNvSpPr/>
          <p:nvPr/>
        </p:nvSpPr>
        <p:spPr>
          <a:xfrm>
            <a:off x="2387600" y="8597900"/>
            <a:ext cx="13258800" cy="25400"/>
          </a:xfrm>
          <a:prstGeom prst="roundRect">
            <a:avLst>
              <a:gd name="adj" fmla="val 200000"/>
            </a:avLst>
          </a:prstGeom>
          <a:solidFill>
            <a:srgbClr val="E5E7EB"/>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4" name="Rounded Rectangle 13"/>
          <p:cNvSpPr/>
          <p:nvPr/>
        </p:nvSpPr>
        <p:spPr>
          <a:xfrm>
            <a:off x="15455900" y="8293100"/>
            <a:ext cx="571500" cy="571500"/>
          </a:xfrm>
          <a:prstGeom prst="roundRect">
            <a:avLst>
              <a:gd name="adj" fmla="val 8888"/>
            </a:avLst>
          </a:prstGeom>
          <a:solidFill>
            <a:srgbClr val="111827"/>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