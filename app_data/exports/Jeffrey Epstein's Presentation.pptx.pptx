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Jeffrey Epstein, born in Brooklyn (1953), became a prominent American financier. Early in his career, he taught mathematics and worked at Bear Stearns, which helped him build a network. This network was crucial for his later financial ventures and also facilitated the alleged illicit activities that led to his conviction as a sex offender. His background is key to understanding his rise and fall.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financial overview of an individual who accumulated over $577 million. It details their approach to managing money for ultra-high-net-worth individuals, prioritizing discretion. Additionally, it highlights the significant real estate acquisitions made through these financial dealings, including notable properties like a New York City townhouse, a New Mexico ranch, and a private island.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by setting the scene in 2005, when Palm Beach police initiated an investigation into Jeffrey Epstein based on a sexual assault complaint. Highlight how this initial complaint quickly escalated into a widespread investigation, revealing numerous allegations from over 30 alleged victims. Emphasize the formal indictment in 2007 for soliciting and procuring a minor, marking a significant legal development in the early stages of the case.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2008 plea deal involving Jeffrey Epstein was highly controversial. It comprised a federal non-prosecution agreement and a state plea deal in Florida. Epstein pleaded guilty to soliciting prostitution, receiving an 18-month sentence but serving only 13 months with work release. This outcome sparked widespread public criticism for its perceived leniency, leading to ongoing scrutiny of the justice system and the handling of high-profile 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Following a controversial 2008 plea deal, renewed scrutiny emerged in 2018 due to investigative journalism. The Miami Herald's exposé brought the case back into the spotlight, questioning the previous agreement's terms. This led directly to new federal charges filed in July 2019. These charges centered on allegations of sex trafficking involving minors across Florida and New York over an extended period. The re-emergence of these charges marked a significant development in the ongoing legal saga.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Reviewing the key events surrounding Jeffrey Epstein's case. We'll cover his initial arrest on sex trafficking charges and the controversial circumstances of his death in custody, which has generated significant public and legal scrutiny.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details the legal aftermath following Jeffrey Epstein's death, focusing on Ghislaine Maxwell's role and subsequent conviction. Maxwell was a key associate in Epstein's sex trafficking network. Her arrest and trial were significant milestones in bringing justice to victims. The conviction and sentencing underscore the ongoing efforts to address and penalize such heinous crimes. The investigations highlighted the extensive nature of the network.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Epstein case revealed significant flaws in legal processes and protective measures for victims. His death generated widespread suspicion, leading to ongoing civil litigation and substantial compensation for victims. The full scope of his associates and activities remains largely unaddressed, prompting ongoing public and legal scrutiny.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406400"/>
            <a:ext cx="19050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Investigation Report</a:t>
            </a:r>
          </a:p>
        </p:txBody>
      </p:sp>
      <p:sp>
        <p:nvSpPr>
          <p:cNvPr id="3" name="TextBox 2"/>
          <p:cNvSpPr txBox="1"/>
          <p:nvPr/>
        </p:nvSpPr>
        <p:spPr>
          <a:xfrm>
            <a:off x="14820900" y="406400"/>
            <a:ext cx="9525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2026-02-11</a:t>
            </a:r>
          </a:p>
        </p:txBody>
      </p:sp>
      <p:pic>
        <p:nvPicPr>
          <p:cNvPr id="4" name="Picture 3" descr="bb504680-3e83-48e2-9bb2-b76f5b672065.png"/>
          <p:cNvPicPr>
            <a:picLocks noChangeAspect="1"/>
          </p:cNvPicPr>
          <p:nvPr/>
        </p:nvPicPr>
        <p:blipFill>
          <a:blip r:embed="rId3"/>
          <a:stretch>
            <a:fillRect/>
          </a:stretch>
        </p:blipFill>
        <p:spPr>
          <a:xfrm>
            <a:off x="812800" y="1930400"/>
            <a:ext cx="6502400" cy="4876800"/>
          </a:xfrm>
          <a:prstGeom prst="rect">
            <a:avLst/>
          </a:prstGeom>
        </p:spPr>
      </p:pic>
      <p:sp>
        <p:nvSpPr>
          <p:cNvPr id="5" name="TextBox 4"/>
          <p:cNvSpPr txBox="1"/>
          <p:nvPr/>
        </p:nvSpPr>
        <p:spPr>
          <a:xfrm>
            <a:off x="8940800" y="1612900"/>
            <a:ext cx="6527800" cy="1905000"/>
          </a:xfrm>
          <a:prstGeom prst="rect">
            <a:avLst/>
          </a:prstGeom>
          <a:noFill/>
        </p:spPr>
        <p:txBody>
          <a:bodyPr wrap="square" lIns="0" rIns="0" tIns="0" bIns="0">
            <a:spAutoFit/>
          </a:bodyPr>
          <a:lstStyle/>
          <a:p>
            <a:pPr algn="l">
              <a:defRPr i="0" sz="6000" b="1">
                <a:solidFill>
                  <a:srgbClr val="2563EB"/>
                </a:solidFill>
                <a:latin typeface="Montserrat"/>
              </a:defRPr>
            </a:pPr>
            <a:r>
              <a:rPr i="0" sz="6000" b="1">
                <a:solidFill>
                  <a:srgbClr val="2563EB"/>
                </a:solidFill>
                <a:latin typeface="Montserrat"/>
              </a:rPr>
              <a:t>Jeffrey Epstein: Background</a:t>
            </a:r>
          </a:p>
        </p:txBody>
      </p:sp>
      <p:sp>
        <p:nvSpPr>
          <p:cNvPr id="6" name="TextBox 5"/>
          <p:cNvSpPr txBox="1"/>
          <p:nvPr/>
        </p:nvSpPr>
        <p:spPr>
          <a:xfrm>
            <a:off x="8940800" y="4127500"/>
            <a:ext cx="6527800" cy="2603500"/>
          </a:xfrm>
          <a:prstGeom prst="rect">
            <a:avLst/>
          </a:prstGeom>
          <a:noFill/>
        </p:spPr>
        <p:txBody>
          <a:bodyPr wrap="square" lIns="0" rIns="0" tIns="0" bIns="0">
            <a:spAutoFit/>
          </a:bodyPr>
          <a:lstStyle/>
          <a:p>
            <a:pPr algn="l">
              <a:lnSpc>
                <a:spcPct val="133000"/>
              </a:lnSpc>
              <a:defRPr i="0" sz="1800" b="0">
                <a:solidFill>
                  <a:srgbClr val="2563EB"/>
                </a:solidFill>
                <a:latin typeface="Montserrat"/>
              </a:defRPr>
            </a:pPr>
            <a:r>
              <a:rPr i="0" sz="1800" b="0">
                <a:solidFill>
                  <a:srgbClr val="2563EB"/>
                </a:solidFill>
                <a:latin typeface="Montserrat"/>
              </a:rPr>
              <a:t>Jeffrey Epstein (1953-2019) was an American financier and convicted sex offender. Born in Brooklyn, New York, he began his career in finance, eventually establishing his own firm. His early career involved teaching mathematics and working at Bear Stearns, building connections that facilitated his later financial success and alleged illicit activities.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406400"/>
            <a:ext cx="26797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Wealth Management Review</a:t>
            </a:r>
          </a:p>
        </p:txBody>
      </p:sp>
      <p:sp>
        <p:nvSpPr>
          <p:cNvPr id="3" name="TextBox 2"/>
          <p:cNvSpPr txBox="1"/>
          <p:nvPr/>
        </p:nvSpPr>
        <p:spPr>
          <a:xfrm>
            <a:off x="14211300" y="406400"/>
            <a:ext cx="15621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February 11, 2026</a:t>
            </a:r>
          </a:p>
        </p:txBody>
      </p:sp>
      <p:sp>
        <p:nvSpPr>
          <p:cNvPr id="4" name="TextBox 3"/>
          <p:cNvSpPr txBox="1"/>
          <p:nvPr/>
        </p:nvSpPr>
        <p:spPr>
          <a:xfrm>
            <a:off x="812800" y="1701800"/>
            <a:ext cx="5816600" cy="952500"/>
          </a:xfrm>
          <a:prstGeom prst="rect">
            <a:avLst/>
          </a:prstGeom>
          <a:noFill/>
        </p:spPr>
        <p:txBody>
          <a:bodyPr wrap="square" lIns="0" rIns="0" tIns="0" bIns="0">
            <a:spAutoFit/>
          </a:bodyPr>
          <a:lstStyle/>
          <a:p>
            <a:pPr>
              <a:defRPr i="0" sz="6000" b="1">
                <a:solidFill>
                  <a:srgbClr val="2563EB"/>
                </a:solidFill>
                <a:latin typeface="Montserrat"/>
              </a:defRPr>
            </a:pPr>
            <a:r>
              <a:rPr i="0" sz="6000" b="1">
                <a:solidFill>
                  <a:srgbClr val="2563EB"/>
                </a:solidFill>
                <a:latin typeface="Montserrat"/>
              </a:rPr>
              <a:t>Rise to Wealth</a:t>
            </a:r>
          </a:p>
        </p:txBody>
      </p:sp>
      <p:sp>
        <p:nvSpPr>
          <p:cNvPr id="5" name="TextBox 4"/>
          <p:cNvSpPr txBox="1"/>
          <p:nvPr/>
        </p:nvSpPr>
        <p:spPr>
          <a:xfrm>
            <a:off x="812800" y="3060700"/>
            <a:ext cx="6019800" cy="2971800"/>
          </a:xfrm>
          <a:prstGeom prst="rect">
            <a:avLst/>
          </a:prstGeom>
          <a:noFill/>
        </p:spPr>
        <p:txBody>
          <a:bodyPr wrap="square" lIns="0" rIns="0" tIns="0" bIns="0">
            <a:spAutoFit/>
          </a:bodyPr>
          <a:lstStyle/>
          <a:p>
            <a:pPr>
              <a:lnSpc>
                <a:spcPct val="133000"/>
              </a:lnSpc>
              <a:defRPr i="0" sz="1800" b="0">
                <a:solidFill>
                  <a:srgbClr val="2563EB"/>
                </a:solidFill>
                <a:latin typeface="Montserrat"/>
              </a:defRPr>
            </a:pPr>
            <a:r>
              <a:rPr i="0" sz="1800" b="0">
                <a:solidFill>
                  <a:srgbClr val="2563EB"/>
                </a:solidFill>
                <a:latin typeface="Montserrat"/>
              </a:rPr>
              <a:t>An individual amassed considerable wealth, estimated at over $577 million. This fortune was built by managing money for ultra-high-net-worth individuals, often with an emphasis on discretion. These extensive financial dealings enabled the acquisition of significant real estate, including a prominent townhouse in New York City, a vast ranch in New Mexico, and a private island.</a:t>
            </a:r>
          </a:p>
        </p:txBody>
      </p:sp>
      <p:sp>
        <p:nvSpPr>
          <p:cNvPr id="6" name="Rounded Rectangle 5"/>
          <p:cNvSpPr/>
          <p:nvPr/>
        </p:nvSpPr>
        <p:spPr>
          <a:xfrm>
            <a:off x="8940800" y="1244600"/>
            <a:ext cx="3048000" cy="3251200"/>
          </a:xfrm>
          <a:prstGeom prst="roundRect">
            <a:avLst>
              <a:gd name="adj" fmla="val 25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9194800" y="1574800"/>
            <a:ext cx="2565400" cy="711200"/>
          </a:xfrm>
          <a:prstGeom prst="rect">
            <a:avLst/>
          </a:prstGeom>
          <a:noFill/>
        </p:spPr>
        <p:txBody>
          <a:bodyPr wrap="square" lIns="0" rIns="0" tIns="0" bIns="0">
            <a:spAutoFit/>
          </a:bodyPr>
          <a:lstStyle/>
          <a:p>
            <a:pPr algn="ctr">
              <a:defRPr i="0" sz="2000" b="1">
                <a:solidFill>
                  <a:srgbClr val="FFFFFF"/>
                </a:solidFill>
                <a:latin typeface="Montserrat"/>
              </a:defRPr>
            </a:pPr>
            <a:r>
              <a:rPr i="0" sz="2000" b="1">
                <a:solidFill>
                  <a:srgbClr val="FFFFFF"/>
                </a:solidFill>
                <a:latin typeface="Montserrat"/>
              </a:rPr>
              <a:t>Discreet Wealth Management</a:t>
            </a:r>
          </a:p>
        </p:txBody>
      </p:sp>
      <p:sp>
        <p:nvSpPr>
          <p:cNvPr id="8" name="TextBox 7"/>
          <p:cNvSpPr txBox="1"/>
          <p:nvPr/>
        </p:nvSpPr>
        <p:spPr>
          <a:xfrm>
            <a:off x="9194800" y="2438400"/>
            <a:ext cx="2565400" cy="1739900"/>
          </a:xfrm>
          <a:prstGeom prst="rect">
            <a:avLst/>
          </a:prstGeom>
          <a:noFill/>
        </p:spPr>
        <p:txBody>
          <a:bodyPr wrap="square" lIns="0" rIns="0" tIns="0" bIns="0">
            <a:spAutoFit/>
          </a:bodyPr>
          <a:lstStyle/>
          <a:p>
            <a:pPr algn="ctr">
              <a:lnSpc>
                <a:spcPct val="133000"/>
              </a:lnSpc>
              <a:defRPr i="0" sz="1400" b="0">
                <a:solidFill>
                  <a:srgbClr val="FFFFFF"/>
                </a:solidFill>
                <a:latin typeface="Montserrat"/>
              </a:defRPr>
            </a:pPr>
            <a:r>
              <a:rPr i="0" sz="1400" b="0">
                <a:solidFill>
                  <a:srgbClr val="FFFFFF"/>
                </a:solidFill>
                <a:latin typeface="Montserrat"/>
              </a:rPr>
              <a:t>Provided financial oversight for ultra-high-net-worth individuals, emphasizing privacy and tailored investment strategies to grow substantial capital.</a:t>
            </a:r>
          </a:p>
        </p:txBody>
      </p:sp>
      <p:pic>
        <p:nvPicPr>
          <p:cNvPr id="9" name="Picture 8" descr="53d7386e-5753-471f-92f3-3b682060a54e.png"/>
          <p:cNvPicPr>
            <a:picLocks noChangeAspect="1"/>
          </p:cNvPicPr>
          <p:nvPr/>
        </p:nvPicPr>
        <p:blipFill>
          <a:blip r:embed="rId3"/>
          <a:stretch>
            <a:fillRect/>
          </a:stretch>
        </p:blipFill>
        <p:spPr>
          <a:xfrm>
            <a:off x="8940800" y="4495800"/>
            <a:ext cx="3048000" cy="2590800"/>
          </a:xfrm>
          <a:prstGeom prst="rect">
            <a:avLst/>
          </a:prstGeom>
        </p:spPr>
      </p:pic>
      <p:pic>
        <p:nvPicPr>
          <p:cNvPr id="10" name="Picture 9" descr="7582fb73-7f17-48ad-b0c6-51610b487cb0.png"/>
          <p:cNvPicPr>
            <a:picLocks noChangeAspect="1"/>
          </p:cNvPicPr>
          <p:nvPr/>
        </p:nvPicPr>
        <p:blipFill>
          <a:blip r:embed="rId4"/>
          <a:stretch>
            <a:fillRect/>
          </a:stretch>
        </p:blipFill>
        <p:spPr>
          <a:xfrm>
            <a:off x="12395200" y="1244600"/>
            <a:ext cx="3048000" cy="2590800"/>
          </a:xfrm>
          <a:prstGeom prst="rect">
            <a:avLst/>
          </a:prstGeom>
        </p:spPr>
      </p:pic>
      <p:sp>
        <p:nvSpPr>
          <p:cNvPr id="11" name="Rounded Rectangle 10"/>
          <p:cNvSpPr/>
          <p:nvPr/>
        </p:nvSpPr>
        <p:spPr>
          <a:xfrm>
            <a:off x="12395200" y="3835400"/>
            <a:ext cx="3048000" cy="3251200"/>
          </a:xfrm>
          <a:prstGeom prst="roundRect">
            <a:avLst>
              <a:gd name="adj" fmla="val 2500"/>
            </a:avLst>
          </a:prstGeom>
          <a:solidFill>
            <a:srgbClr val="F3F4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12649200" y="4305300"/>
            <a:ext cx="2565400" cy="711200"/>
          </a:xfrm>
          <a:prstGeom prst="rect">
            <a:avLst/>
          </a:prstGeom>
          <a:noFill/>
        </p:spPr>
        <p:txBody>
          <a:bodyPr wrap="square" lIns="0" rIns="0" tIns="0" bIns="0">
            <a:spAutoFit/>
          </a:bodyPr>
          <a:lstStyle/>
          <a:p>
            <a:pPr algn="ctr">
              <a:defRPr i="0" sz="2000" b="1">
                <a:solidFill>
                  <a:srgbClr val="2563EB"/>
                </a:solidFill>
                <a:latin typeface="Montserrat"/>
              </a:defRPr>
            </a:pPr>
            <a:r>
              <a:rPr i="0" sz="2000" b="1">
                <a:solidFill>
                  <a:srgbClr val="2563EB"/>
                </a:solidFill>
                <a:latin typeface="Montserrat"/>
              </a:rPr>
              <a:t>Significant Real Estate Portfolio</a:t>
            </a:r>
          </a:p>
        </p:txBody>
      </p:sp>
      <p:sp>
        <p:nvSpPr>
          <p:cNvPr id="13" name="TextBox 12"/>
          <p:cNvSpPr txBox="1"/>
          <p:nvPr/>
        </p:nvSpPr>
        <p:spPr>
          <a:xfrm>
            <a:off x="12649200" y="5168900"/>
            <a:ext cx="2565400" cy="1447800"/>
          </a:xfrm>
          <a:prstGeom prst="rect">
            <a:avLst/>
          </a:prstGeom>
          <a:noFill/>
        </p:spPr>
        <p:txBody>
          <a:bodyPr wrap="square" lIns="0" rIns="0" tIns="0" bIns="0">
            <a:spAutoFit/>
          </a:bodyPr>
          <a:lstStyle/>
          <a:p>
            <a:pPr algn="ctr">
              <a:lnSpc>
                <a:spcPct val="133000"/>
              </a:lnSpc>
              <a:defRPr i="0" sz="1400" b="0">
                <a:solidFill>
                  <a:srgbClr val="2563EB"/>
                </a:solidFill>
                <a:latin typeface="Montserrat"/>
              </a:defRPr>
            </a:pPr>
            <a:r>
              <a:rPr i="0" sz="1400" b="0">
                <a:solidFill>
                  <a:srgbClr val="2563EB"/>
                </a:solidFill>
                <a:latin typeface="Montserrat"/>
              </a:rPr>
              <a:t>Acquired diverse, high-value properties including a New York City townhouse, a New Mexico ranch, and a private island.</a:t>
            </a:r>
          </a:p>
        </p:txBody>
      </p:sp>
      <p:sp>
        <p:nvSpPr>
          <p:cNvPr id="14" name="Rounded Rectangle 13"/>
          <p:cNvSpPr/>
          <p:nvPr/>
        </p:nvSpPr>
        <p:spPr>
          <a:xfrm>
            <a:off x="0" y="9093200"/>
            <a:ext cx="16256000" cy="50800"/>
          </a:xfrm>
          <a:prstGeom prst="roundRect">
            <a:avLst>
              <a:gd name="adj" fmla="val 1000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TextBox 1"/>
          <p:cNvSpPr txBox="1"/>
          <p:nvPr/>
        </p:nvSpPr>
        <p:spPr>
          <a:xfrm>
            <a:off x="508000" y="406400"/>
            <a:ext cx="2908300" cy="254000"/>
          </a:xfrm>
          <a:prstGeom prst="rect">
            <a:avLst/>
          </a:prstGeom>
          <a:noFill/>
        </p:spPr>
        <p:txBody>
          <a:bodyPr wrap="square" lIns="0" rIns="0" tIns="0" bIns="0">
            <a:spAutoFit/>
          </a:bodyPr>
          <a:lstStyle/>
          <a:p>
            <a:pPr algn="l">
              <a:defRPr i="0" sz="1400" b="1">
                <a:solidFill>
                  <a:srgbClr val="FFFFFF"/>
                </a:solidFill>
                <a:latin typeface="Montserrat"/>
              </a:defRPr>
            </a:pPr>
            <a:r>
              <a:rPr i="0" sz="1400" b="1">
                <a:solidFill>
                  <a:srgbClr val="FFFFFF"/>
                </a:solidFill>
                <a:latin typeface="Montserrat"/>
              </a:rPr>
              <a:t>Palm Beach Police Department</a:t>
            </a:r>
          </a:p>
        </p:txBody>
      </p:sp>
      <p:sp>
        <p:nvSpPr>
          <p:cNvPr id="3" name="TextBox 2"/>
          <p:cNvSpPr txBox="1"/>
          <p:nvPr/>
        </p:nvSpPr>
        <p:spPr>
          <a:xfrm>
            <a:off x="14211300" y="406400"/>
            <a:ext cx="1562100" cy="254000"/>
          </a:xfrm>
          <a:prstGeom prst="rect">
            <a:avLst/>
          </a:prstGeom>
          <a:noFill/>
        </p:spPr>
        <p:txBody>
          <a:bodyPr wrap="square" lIns="0" rIns="0" tIns="0" bIns="0">
            <a:spAutoFit/>
          </a:bodyPr>
          <a:lstStyle/>
          <a:p>
            <a:pPr algn="l">
              <a:defRPr i="0" sz="1400" b="1">
                <a:solidFill>
                  <a:srgbClr val="FFFFFF"/>
                </a:solidFill>
                <a:latin typeface="Montserrat"/>
              </a:defRPr>
            </a:pPr>
            <a:r>
              <a:rPr i="0" sz="1400" b="1">
                <a:solidFill>
                  <a:srgbClr val="FFFFFF"/>
                </a:solidFill>
                <a:latin typeface="Montserrat"/>
              </a:rPr>
              <a:t>February 11, 2026</a:t>
            </a:r>
          </a:p>
        </p:txBody>
      </p:sp>
      <p:sp>
        <p:nvSpPr>
          <p:cNvPr id="4" name="TextBox 3"/>
          <p:cNvSpPr txBox="1"/>
          <p:nvPr/>
        </p:nvSpPr>
        <p:spPr>
          <a:xfrm>
            <a:off x="812800" y="2540000"/>
            <a:ext cx="5626100" cy="762000"/>
          </a:xfrm>
          <a:prstGeom prst="rect">
            <a:avLst/>
          </a:prstGeom>
          <a:noFill/>
        </p:spPr>
        <p:txBody>
          <a:bodyPr wrap="square" lIns="0" rIns="0" tIns="0" bIns="0">
            <a:spAutoFit/>
          </a:bodyPr>
          <a:lstStyle/>
          <a:p>
            <a:pPr>
              <a:defRPr i="0" sz="4800" b="1">
                <a:solidFill>
                  <a:srgbClr val="FFFFFF"/>
                </a:solidFill>
                <a:latin typeface="Montserrat"/>
              </a:defRPr>
            </a:pPr>
            <a:r>
              <a:rPr i="0" sz="4800" b="1">
                <a:solidFill>
                  <a:srgbClr val="FFFFFF"/>
                </a:solidFill>
                <a:latin typeface="Montserrat"/>
              </a:rPr>
              <a:t>Initial Allegations</a:t>
            </a:r>
          </a:p>
        </p:txBody>
      </p:sp>
      <p:sp>
        <p:nvSpPr>
          <p:cNvPr id="5" name="TextBox 4"/>
          <p:cNvSpPr txBox="1"/>
          <p:nvPr/>
        </p:nvSpPr>
        <p:spPr>
          <a:xfrm>
            <a:off x="812800" y="3708400"/>
            <a:ext cx="6527800" cy="1485900"/>
          </a:xfrm>
          <a:prstGeom prst="rect">
            <a:avLst/>
          </a:prstGeom>
          <a:noFill/>
        </p:spPr>
        <p:txBody>
          <a:bodyPr wrap="square" lIns="0" rIns="0" tIns="0" bIns="0">
            <a:spAutoFit/>
          </a:bodyPr>
          <a:lstStyle/>
          <a:p>
            <a:pPr>
              <a:lnSpc>
                <a:spcPct val="133000"/>
              </a:lnSpc>
              <a:defRPr i="0" sz="1800" b="0">
                <a:solidFill>
                  <a:srgbClr val="FFFFFF"/>
                </a:solidFill>
                <a:latin typeface="Montserrat"/>
              </a:defRPr>
            </a:pPr>
            <a:r>
              <a:rPr i="0" sz="1800" b="0">
                <a:solidFill>
                  <a:srgbClr val="FFFFFF"/>
                </a:solidFill>
                <a:latin typeface="Montserrat"/>
              </a:rPr>
              <a:t>In 2005, Palm Beach police began investigating Epstein after a complaint of sexual assault involving a minor. This led to a large-scale investigation, uncovering multiple allegations over time.</a:t>
            </a:r>
          </a:p>
        </p:txBody>
      </p:sp>
      <p:sp>
        <p:nvSpPr>
          <p:cNvPr id="6" name="Rounded Rectangle 5"/>
          <p:cNvSpPr/>
          <p:nvPr/>
        </p:nvSpPr>
        <p:spPr>
          <a:xfrm>
            <a:off x="8940800" y="1524000"/>
            <a:ext cx="6502400" cy="1498600"/>
          </a:xfrm>
          <a:prstGeom prst="roundRect">
            <a:avLst>
              <a:gd name="adj" fmla="val 6779"/>
            </a:avLst>
          </a:prstGeom>
          <a:solidFill>
            <a:srgbClr val="FFFFFF">
              <a:alpha val="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10058400" y="1778000"/>
            <a:ext cx="5156200" cy="355600"/>
          </a:xfrm>
          <a:prstGeom prst="rect">
            <a:avLst/>
          </a:prstGeom>
          <a:noFill/>
        </p:spPr>
        <p:txBody>
          <a:bodyPr wrap="square" lIns="0" rIns="0" tIns="0" bIns="0">
            <a:spAutoFit/>
          </a:bodyPr>
          <a:lstStyle/>
          <a:p>
            <a:pPr algn="l">
              <a:defRPr i="0" sz="2000" b="1">
                <a:solidFill>
                  <a:srgbClr val="FFFFFF"/>
                </a:solidFill>
                <a:latin typeface="Montserrat"/>
              </a:defRPr>
            </a:pPr>
            <a:r>
              <a:rPr i="0" sz="2000" b="1">
                <a:solidFill>
                  <a:srgbClr val="FFFFFF"/>
                </a:solidFill>
                <a:latin typeface="Montserrat"/>
              </a:rPr>
              <a:t>Initial Complaint</a:t>
            </a:r>
          </a:p>
        </p:txBody>
      </p:sp>
      <p:sp>
        <p:nvSpPr>
          <p:cNvPr id="8" name="TextBox 7"/>
          <p:cNvSpPr txBox="1"/>
          <p:nvPr/>
        </p:nvSpPr>
        <p:spPr>
          <a:xfrm>
            <a:off x="10058400" y="2184400"/>
            <a:ext cx="5156200" cy="584200"/>
          </a:xfrm>
          <a:prstGeom prst="rect">
            <a:avLst/>
          </a:prstGeom>
          <a:noFill/>
        </p:spPr>
        <p:txBody>
          <a:bodyPr wrap="square" lIns="0" rIns="0" tIns="0" bIns="0">
            <a:spAutoFit/>
          </a:bodyPr>
          <a:lstStyle/>
          <a:p>
            <a:pPr algn="l">
              <a:lnSpc>
                <a:spcPct val="133000"/>
              </a:lnSpc>
              <a:defRPr i="0" sz="1400" b="0">
                <a:solidFill>
                  <a:srgbClr val="DBEAFE"/>
                </a:solidFill>
                <a:latin typeface="Montserrat"/>
              </a:defRPr>
            </a:pPr>
            <a:r>
              <a:rPr i="0" sz="1400" b="0">
                <a:solidFill>
                  <a:srgbClr val="DBEAFE"/>
                </a:solidFill>
                <a:latin typeface="Montserrat"/>
              </a:rPr>
              <a:t>Palm Beach police launched an investigation in 2005 after a complaint of sexual assault involving a minor.</a:t>
            </a:r>
          </a:p>
        </p:txBody>
      </p:sp>
      <p:sp>
        <p:nvSpPr>
          <p:cNvPr id="9" name="Rounded Rectangle 8"/>
          <p:cNvSpPr/>
          <p:nvPr/>
        </p:nvSpPr>
        <p:spPr>
          <a:xfrm>
            <a:off x="8940800" y="3416300"/>
            <a:ext cx="6502400" cy="1498600"/>
          </a:xfrm>
          <a:prstGeom prst="roundRect">
            <a:avLst>
              <a:gd name="adj" fmla="val 6779"/>
            </a:avLst>
          </a:prstGeom>
          <a:solidFill>
            <a:srgbClr val="FFFFFF">
              <a:alpha val="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0058400" y="3670300"/>
            <a:ext cx="5156200" cy="355600"/>
          </a:xfrm>
          <a:prstGeom prst="rect">
            <a:avLst/>
          </a:prstGeom>
          <a:noFill/>
        </p:spPr>
        <p:txBody>
          <a:bodyPr wrap="square" lIns="0" rIns="0" tIns="0" bIns="0">
            <a:spAutoFit/>
          </a:bodyPr>
          <a:lstStyle/>
          <a:p>
            <a:pPr algn="l">
              <a:defRPr i="0" sz="2000" b="1">
                <a:solidFill>
                  <a:srgbClr val="FFFFFF"/>
                </a:solidFill>
                <a:latin typeface="Montserrat"/>
              </a:defRPr>
            </a:pPr>
            <a:r>
              <a:rPr i="0" sz="2000" b="1">
                <a:solidFill>
                  <a:srgbClr val="FFFFFF"/>
                </a:solidFill>
                <a:latin typeface="Montserrat"/>
              </a:rPr>
              <a:t>Widespread Allegations</a:t>
            </a:r>
          </a:p>
        </p:txBody>
      </p:sp>
      <p:sp>
        <p:nvSpPr>
          <p:cNvPr id="11" name="TextBox 10"/>
          <p:cNvSpPr txBox="1"/>
          <p:nvPr/>
        </p:nvSpPr>
        <p:spPr>
          <a:xfrm>
            <a:off x="10058400" y="4076700"/>
            <a:ext cx="5156200" cy="584200"/>
          </a:xfrm>
          <a:prstGeom prst="rect">
            <a:avLst/>
          </a:prstGeom>
          <a:noFill/>
        </p:spPr>
        <p:txBody>
          <a:bodyPr wrap="square" lIns="0" rIns="0" tIns="0" bIns="0">
            <a:spAutoFit/>
          </a:bodyPr>
          <a:lstStyle/>
          <a:p>
            <a:pPr algn="l">
              <a:lnSpc>
                <a:spcPct val="133000"/>
              </a:lnSpc>
              <a:defRPr i="0" sz="1400" b="0">
                <a:solidFill>
                  <a:srgbClr val="DBEAFE"/>
                </a:solidFill>
                <a:latin typeface="Montserrat"/>
              </a:defRPr>
            </a:pPr>
            <a:r>
              <a:rPr i="0" sz="1400" b="0">
                <a:solidFill>
                  <a:srgbClr val="DBEAFE"/>
                </a:solidFill>
                <a:latin typeface="Montserrat"/>
              </a:rPr>
              <a:t>The investigation quickly uncovered multiple additional allegations from numerous alleged victims.</a:t>
            </a:r>
          </a:p>
        </p:txBody>
      </p:sp>
      <p:sp>
        <p:nvSpPr>
          <p:cNvPr id="12" name="Rounded Rectangle 11"/>
          <p:cNvSpPr/>
          <p:nvPr/>
        </p:nvSpPr>
        <p:spPr>
          <a:xfrm>
            <a:off x="8940800" y="5321300"/>
            <a:ext cx="6502400" cy="1498600"/>
          </a:xfrm>
          <a:prstGeom prst="roundRect">
            <a:avLst>
              <a:gd name="adj" fmla="val 6779"/>
            </a:avLst>
          </a:prstGeom>
          <a:solidFill>
            <a:srgbClr val="FFFFFF">
              <a:alpha val="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10058400" y="5575300"/>
            <a:ext cx="5156200" cy="355600"/>
          </a:xfrm>
          <a:prstGeom prst="rect">
            <a:avLst/>
          </a:prstGeom>
          <a:noFill/>
        </p:spPr>
        <p:txBody>
          <a:bodyPr wrap="square" lIns="0" rIns="0" tIns="0" bIns="0">
            <a:spAutoFit/>
          </a:bodyPr>
          <a:lstStyle/>
          <a:p>
            <a:pPr algn="l">
              <a:defRPr i="0" sz="2000" b="1">
                <a:solidFill>
                  <a:srgbClr val="FFFFFF"/>
                </a:solidFill>
                <a:latin typeface="Montserrat"/>
              </a:defRPr>
            </a:pPr>
            <a:r>
              <a:rPr i="0" sz="2000" b="1">
                <a:solidFill>
                  <a:srgbClr val="FFFFFF"/>
                </a:solidFill>
                <a:latin typeface="Montserrat"/>
              </a:rPr>
              <a:t>Formal Indictment (2007)</a:t>
            </a:r>
          </a:p>
        </p:txBody>
      </p:sp>
      <p:sp>
        <p:nvSpPr>
          <p:cNvPr id="14" name="TextBox 13"/>
          <p:cNvSpPr txBox="1"/>
          <p:nvPr/>
        </p:nvSpPr>
        <p:spPr>
          <a:xfrm>
            <a:off x="10058400" y="5981700"/>
            <a:ext cx="5156200" cy="584200"/>
          </a:xfrm>
          <a:prstGeom prst="rect">
            <a:avLst/>
          </a:prstGeom>
          <a:noFill/>
        </p:spPr>
        <p:txBody>
          <a:bodyPr wrap="square" lIns="0" rIns="0" tIns="0" bIns="0">
            <a:spAutoFit/>
          </a:bodyPr>
          <a:lstStyle/>
          <a:p>
            <a:pPr algn="l">
              <a:lnSpc>
                <a:spcPct val="133000"/>
              </a:lnSpc>
              <a:defRPr i="0" sz="1400" b="0">
                <a:solidFill>
                  <a:srgbClr val="DBEAFE"/>
                </a:solidFill>
                <a:latin typeface="Montserrat"/>
              </a:defRPr>
            </a:pPr>
            <a:r>
              <a:rPr i="0" sz="1400" b="0">
                <a:solidFill>
                  <a:srgbClr val="DBEAFE"/>
                </a:solidFill>
                <a:latin typeface="Montserrat"/>
              </a:rPr>
              <a:t>By 2007, Epstein was indicted on charges of soliciting and procuring a minor for prostitution.</a:t>
            </a:r>
          </a:p>
        </p:txBody>
      </p:sp>
      <p:sp>
        <p:nvSpPr>
          <p:cNvPr id="15" name="Rounded Rectangle 14"/>
          <p:cNvSpPr/>
          <p:nvPr/>
        </p:nvSpPr>
        <p:spPr>
          <a:xfrm>
            <a:off x="0" y="9093200"/>
            <a:ext cx="16256000" cy="50800"/>
          </a:xfrm>
          <a:prstGeom prst="roundRect">
            <a:avLst>
              <a:gd name="adj" fmla="val 10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3400" y="431800"/>
            <a:ext cx="14605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Justice Insights</a:t>
            </a:r>
          </a:p>
        </p:txBody>
      </p:sp>
      <p:sp>
        <p:nvSpPr>
          <p:cNvPr id="3" name="TextBox 2"/>
          <p:cNvSpPr txBox="1"/>
          <p:nvPr/>
        </p:nvSpPr>
        <p:spPr>
          <a:xfrm>
            <a:off x="14185900" y="431800"/>
            <a:ext cx="15621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February 11, 2026</a:t>
            </a:r>
          </a:p>
        </p:txBody>
      </p:sp>
      <p:sp>
        <p:nvSpPr>
          <p:cNvPr id="4" name="TextBox 3"/>
          <p:cNvSpPr txBox="1"/>
          <p:nvPr/>
        </p:nvSpPr>
        <p:spPr>
          <a:xfrm>
            <a:off x="838200" y="1308100"/>
            <a:ext cx="7213600" cy="1905000"/>
          </a:xfrm>
          <a:prstGeom prst="rect">
            <a:avLst/>
          </a:prstGeom>
          <a:noFill/>
        </p:spPr>
        <p:txBody>
          <a:bodyPr wrap="square" lIns="0" rIns="0" tIns="0" bIns="0">
            <a:spAutoFit/>
          </a:bodyPr>
          <a:lstStyle/>
          <a:p>
            <a:pPr>
              <a:defRPr i="0" sz="6000" b="1">
                <a:solidFill>
                  <a:srgbClr val="2563EB"/>
                </a:solidFill>
                <a:latin typeface="Montserrat"/>
              </a:defRPr>
            </a:pPr>
            <a:r>
              <a:rPr i="0" sz="6000" b="1">
                <a:solidFill>
                  <a:srgbClr val="2563EB"/>
                </a:solidFill>
                <a:latin typeface="Montserrat"/>
              </a:rPr>
              <a:t>Controversial 2008 Plea Deal</a:t>
            </a:r>
          </a:p>
        </p:txBody>
      </p:sp>
      <p:sp>
        <p:nvSpPr>
          <p:cNvPr id="5" name="TextBox 4"/>
          <p:cNvSpPr txBox="1"/>
          <p:nvPr/>
        </p:nvSpPr>
        <p:spPr>
          <a:xfrm>
            <a:off x="838200" y="3619500"/>
            <a:ext cx="6527800" cy="2603500"/>
          </a:xfrm>
          <a:prstGeom prst="rect">
            <a:avLst/>
          </a:prstGeom>
          <a:noFill/>
        </p:spPr>
        <p:txBody>
          <a:bodyPr wrap="square" lIns="0" rIns="0" tIns="0" bIns="0">
            <a:spAutoFit/>
          </a:bodyPr>
          <a:lstStyle/>
          <a:p>
            <a:pPr>
              <a:lnSpc>
                <a:spcPct val="133000"/>
              </a:lnSpc>
              <a:defRPr i="0" sz="1800" b="0">
                <a:solidFill>
                  <a:srgbClr val="2563EB"/>
                </a:solidFill>
                <a:latin typeface="Montserrat"/>
              </a:defRPr>
            </a:pPr>
            <a:r>
              <a:rPr i="0" sz="1800" b="0">
                <a:solidFill>
                  <a:srgbClr val="2563EB"/>
                </a:solidFill>
                <a:latin typeface="Montserrat"/>
              </a:rPr>
              <a:t>In 2008, Epstein accepted a non-prosecution agreement with federal prosecutors and a plea deal with state prosecutors in Florida. He pleaded guilty to two state charges of soliciting prostitution and received an 18-month sentence, serving 13 months with work release, sparking significant public outrage due to its leniency.</a:t>
            </a:r>
          </a:p>
        </p:txBody>
      </p:sp>
      <p:sp>
        <p:nvSpPr>
          <p:cNvPr id="6" name="Rounded Rectangle 5"/>
          <p:cNvSpPr/>
          <p:nvPr/>
        </p:nvSpPr>
        <p:spPr>
          <a:xfrm>
            <a:off x="8229600" y="1866900"/>
            <a:ext cx="3492500" cy="2197100"/>
          </a:xfrm>
          <a:prstGeom prst="roundRect">
            <a:avLst>
              <a:gd name="adj" fmla="val 4624"/>
            </a:avLst>
          </a:prstGeom>
          <a:solidFill>
            <a:srgbClr val="F5F8FE"/>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9156700" y="2882900"/>
            <a:ext cx="1663700" cy="355600"/>
          </a:xfrm>
          <a:prstGeom prst="rect">
            <a:avLst/>
          </a:prstGeom>
          <a:noFill/>
        </p:spPr>
        <p:txBody>
          <a:bodyPr wrap="square" lIns="0" rIns="0" tIns="0" bIns="0">
            <a:spAutoFit/>
          </a:bodyPr>
          <a:lstStyle/>
          <a:p>
            <a:pPr algn="ctr">
              <a:defRPr i="0" sz="1800" b="1">
                <a:solidFill>
                  <a:srgbClr val="2563EB"/>
                </a:solidFill>
                <a:latin typeface="Montserrat"/>
              </a:defRPr>
            </a:pPr>
            <a:r>
              <a:rPr i="0" sz="1800" b="1">
                <a:solidFill>
                  <a:srgbClr val="2563EB"/>
                </a:solidFill>
                <a:latin typeface="Montserrat"/>
              </a:rPr>
              <a:t>Federal N.P.A.</a:t>
            </a:r>
          </a:p>
        </p:txBody>
      </p:sp>
      <p:sp>
        <p:nvSpPr>
          <p:cNvPr id="8" name="Rounded Rectangle 7"/>
          <p:cNvSpPr/>
          <p:nvPr/>
        </p:nvSpPr>
        <p:spPr>
          <a:xfrm>
            <a:off x="9779000" y="3289300"/>
            <a:ext cx="406400" cy="50800"/>
          </a:xfrm>
          <a:prstGeom prst="roundRect">
            <a:avLst>
              <a:gd name="adj" fmla="val 2000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TextBox 8"/>
          <p:cNvSpPr txBox="1"/>
          <p:nvPr/>
        </p:nvSpPr>
        <p:spPr>
          <a:xfrm>
            <a:off x="8382000" y="3441700"/>
            <a:ext cx="3213100" cy="419100"/>
          </a:xfrm>
          <a:prstGeom prst="rect">
            <a:avLst/>
          </a:prstGeom>
          <a:noFill/>
        </p:spPr>
        <p:txBody>
          <a:bodyPr wrap="square" lIns="0" rIns="0" tIns="0" bIns="0">
            <a:spAutoFit/>
          </a:bodyPr>
          <a:lstStyle/>
          <a:p>
            <a:pPr algn="ctr">
              <a:defRPr i="0" sz="1200" b="0">
                <a:solidFill>
                  <a:srgbClr val="2563EB"/>
                </a:solidFill>
                <a:latin typeface="Montserrat"/>
              </a:defRPr>
            </a:pPr>
            <a:r>
              <a:rPr i="0" sz="1200" b="0">
                <a:solidFill>
                  <a:srgbClr val="2563EB"/>
                </a:solidFill>
                <a:latin typeface="Montserrat"/>
              </a:rPr>
              <a:t>Accepted a non-prosecution agreement with federal prosecutors.</a:t>
            </a:r>
          </a:p>
        </p:txBody>
      </p:sp>
      <p:sp>
        <p:nvSpPr>
          <p:cNvPr id="10" name="Rounded Rectangle 9"/>
          <p:cNvSpPr/>
          <p:nvPr/>
        </p:nvSpPr>
        <p:spPr>
          <a:xfrm>
            <a:off x="11925300" y="1866900"/>
            <a:ext cx="3492500" cy="2197100"/>
          </a:xfrm>
          <a:prstGeom prst="roundRect">
            <a:avLst>
              <a:gd name="adj" fmla="val 4624"/>
            </a:avLst>
          </a:prstGeom>
          <a:solidFill>
            <a:srgbClr val="F5F8FE"/>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1" name="TextBox 10"/>
          <p:cNvSpPr txBox="1"/>
          <p:nvPr/>
        </p:nvSpPr>
        <p:spPr>
          <a:xfrm>
            <a:off x="12382500" y="2882900"/>
            <a:ext cx="2603500" cy="355600"/>
          </a:xfrm>
          <a:prstGeom prst="rect">
            <a:avLst/>
          </a:prstGeom>
          <a:noFill/>
        </p:spPr>
        <p:txBody>
          <a:bodyPr wrap="square" lIns="0" rIns="0" tIns="0" bIns="0">
            <a:spAutoFit/>
          </a:bodyPr>
          <a:lstStyle/>
          <a:p>
            <a:pPr algn="ctr">
              <a:defRPr i="0" sz="1800" b="1">
                <a:solidFill>
                  <a:srgbClr val="2563EB"/>
                </a:solidFill>
                <a:latin typeface="Montserrat"/>
              </a:defRPr>
            </a:pPr>
            <a:r>
              <a:rPr i="0" sz="1800" b="1">
                <a:solidFill>
                  <a:srgbClr val="2563EB"/>
                </a:solidFill>
                <a:latin typeface="Montserrat"/>
              </a:rPr>
              <a:t>State Plea &amp; Sentence</a:t>
            </a:r>
          </a:p>
        </p:txBody>
      </p:sp>
      <p:sp>
        <p:nvSpPr>
          <p:cNvPr id="12" name="Rounded Rectangle 11"/>
          <p:cNvSpPr/>
          <p:nvPr/>
        </p:nvSpPr>
        <p:spPr>
          <a:xfrm>
            <a:off x="13474700" y="3289300"/>
            <a:ext cx="406400" cy="50800"/>
          </a:xfrm>
          <a:prstGeom prst="roundRect">
            <a:avLst>
              <a:gd name="adj" fmla="val 2000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12077700" y="3441700"/>
            <a:ext cx="3213100" cy="419100"/>
          </a:xfrm>
          <a:prstGeom prst="rect">
            <a:avLst/>
          </a:prstGeom>
          <a:noFill/>
        </p:spPr>
        <p:txBody>
          <a:bodyPr wrap="square" lIns="0" rIns="0" tIns="0" bIns="0">
            <a:spAutoFit/>
          </a:bodyPr>
          <a:lstStyle/>
          <a:p>
            <a:pPr algn="ctr">
              <a:defRPr i="0" sz="1200" b="0">
                <a:solidFill>
                  <a:srgbClr val="2563EB"/>
                </a:solidFill>
                <a:latin typeface="Montserrat"/>
              </a:defRPr>
            </a:pPr>
            <a:r>
              <a:rPr i="0" sz="1200" b="0">
                <a:solidFill>
                  <a:srgbClr val="2563EB"/>
                </a:solidFill>
                <a:latin typeface="Montserrat"/>
              </a:rPr>
              <a:t>Guilty to 2 state charges, 18-month sentence, served 13 months.</a:t>
            </a:r>
          </a:p>
        </p:txBody>
      </p:sp>
      <p:sp>
        <p:nvSpPr>
          <p:cNvPr id="14" name="Rounded Rectangle 13"/>
          <p:cNvSpPr/>
          <p:nvPr/>
        </p:nvSpPr>
        <p:spPr>
          <a:xfrm>
            <a:off x="8229600" y="4267200"/>
            <a:ext cx="3492500" cy="2197100"/>
          </a:xfrm>
          <a:prstGeom prst="roundRect">
            <a:avLst>
              <a:gd name="adj" fmla="val 4624"/>
            </a:avLst>
          </a:prstGeom>
          <a:solidFill>
            <a:srgbClr val="F5F8FE"/>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TextBox 14"/>
          <p:cNvSpPr txBox="1"/>
          <p:nvPr/>
        </p:nvSpPr>
        <p:spPr>
          <a:xfrm>
            <a:off x="9080500" y="5283200"/>
            <a:ext cx="1803400" cy="355600"/>
          </a:xfrm>
          <a:prstGeom prst="rect">
            <a:avLst/>
          </a:prstGeom>
          <a:noFill/>
        </p:spPr>
        <p:txBody>
          <a:bodyPr wrap="square" lIns="0" rIns="0" tIns="0" bIns="0">
            <a:spAutoFit/>
          </a:bodyPr>
          <a:lstStyle/>
          <a:p>
            <a:pPr algn="ctr">
              <a:defRPr i="0" sz="1800" b="1">
                <a:solidFill>
                  <a:srgbClr val="2563EB"/>
                </a:solidFill>
                <a:latin typeface="Montserrat"/>
              </a:defRPr>
            </a:pPr>
            <a:r>
              <a:rPr i="0" sz="1800" b="1">
                <a:solidFill>
                  <a:srgbClr val="2563EB"/>
                </a:solidFill>
                <a:latin typeface="Montserrat"/>
              </a:rPr>
              <a:t>Public Outrage</a:t>
            </a:r>
          </a:p>
        </p:txBody>
      </p:sp>
      <p:sp>
        <p:nvSpPr>
          <p:cNvPr id="16" name="Rounded Rectangle 15"/>
          <p:cNvSpPr/>
          <p:nvPr/>
        </p:nvSpPr>
        <p:spPr>
          <a:xfrm>
            <a:off x="9779000" y="5689600"/>
            <a:ext cx="406400" cy="50800"/>
          </a:xfrm>
          <a:prstGeom prst="roundRect">
            <a:avLst>
              <a:gd name="adj" fmla="val 2000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TextBox 16"/>
          <p:cNvSpPr txBox="1"/>
          <p:nvPr/>
        </p:nvSpPr>
        <p:spPr>
          <a:xfrm>
            <a:off x="8382000" y="5842000"/>
            <a:ext cx="3213100" cy="419100"/>
          </a:xfrm>
          <a:prstGeom prst="rect">
            <a:avLst/>
          </a:prstGeom>
          <a:noFill/>
        </p:spPr>
        <p:txBody>
          <a:bodyPr wrap="square" lIns="0" rIns="0" tIns="0" bIns="0">
            <a:spAutoFit/>
          </a:bodyPr>
          <a:lstStyle/>
          <a:p>
            <a:pPr algn="ctr">
              <a:defRPr i="0" sz="1200" b="0">
                <a:solidFill>
                  <a:srgbClr val="2563EB"/>
                </a:solidFill>
                <a:latin typeface="Montserrat"/>
              </a:defRPr>
            </a:pPr>
            <a:r>
              <a:rPr i="0" sz="1200" b="0">
                <a:solidFill>
                  <a:srgbClr val="2563EB"/>
                </a:solidFill>
                <a:latin typeface="Montserrat"/>
              </a:rPr>
              <a:t>Significant public outrage due to the perceived leniency of the deal.</a:t>
            </a:r>
          </a:p>
        </p:txBody>
      </p:sp>
      <p:sp>
        <p:nvSpPr>
          <p:cNvPr id="18" name="Rounded Rectangle 17"/>
          <p:cNvSpPr/>
          <p:nvPr/>
        </p:nvSpPr>
        <p:spPr>
          <a:xfrm>
            <a:off x="25400" y="9067800"/>
            <a:ext cx="16205200" cy="50800"/>
          </a:xfrm>
          <a:prstGeom prst="roundRect">
            <a:avLst>
              <a:gd name="adj" fmla="val 1000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563EB"/>
        </a:solidFill>
        <a:effectLst/>
      </p:bgPr>
    </p:bg>
    <p:spTree>
      <p:nvGrpSpPr>
        <p:cNvPr id="1" name=""/>
        <p:cNvGrpSpPr/>
        <p:nvPr/>
      </p:nvGrpSpPr>
      <p:grpSpPr/>
      <p:sp>
        <p:nvSpPr>
          <p:cNvPr id="2" name="TextBox 1"/>
          <p:cNvSpPr txBox="1"/>
          <p:nvPr/>
        </p:nvSpPr>
        <p:spPr>
          <a:xfrm>
            <a:off x="508000" y="406400"/>
            <a:ext cx="1612900" cy="254000"/>
          </a:xfrm>
          <a:prstGeom prst="rect">
            <a:avLst/>
          </a:prstGeom>
          <a:noFill/>
        </p:spPr>
        <p:txBody>
          <a:bodyPr wrap="square" lIns="0" rIns="0" tIns="0" bIns="0">
            <a:spAutoFit/>
          </a:bodyPr>
          <a:lstStyle/>
          <a:p>
            <a:pPr algn="l">
              <a:defRPr i="0" sz="1400" b="1">
                <a:solidFill>
                  <a:srgbClr val="FFFFFF"/>
                </a:solidFill>
                <a:latin typeface="Montserrat"/>
              </a:defRPr>
            </a:pPr>
            <a:r>
              <a:rPr i="0" sz="1400" b="1">
                <a:solidFill>
                  <a:srgbClr val="FFFFFF"/>
                </a:solidFill>
                <a:latin typeface="Montserrat"/>
              </a:rPr>
              <a:t>Legal Review Inc.</a:t>
            </a:r>
          </a:p>
        </p:txBody>
      </p:sp>
      <p:sp>
        <p:nvSpPr>
          <p:cNvPr id="3" name="TextBox 2"/>
          <p:cNvSpPr txBox="1"/>
          <p:nvPr/>
        </p:nvSpPr>
        <p:spPr>
          <a:xfrm>
            <a:off x="14211300" y="406400"/>
            <a:ext cx="1562100" cy="254000"/>
          </a:xfrm>
          <a:prstGeom prst="rect">
            <a:avLst/>
          </a:prstGeom>
          <a:noFill/>
        </p:spPr>
        <p:txBody>
          <a:bodyPr wrap="square" lIns="0" rIns="0" tIns="0" bIns="0">
            <a:spAutoFit/>
          </a:bodyPr>
          <a:lstStyle/>
          <a:p>
            <a:pPr algn="l">
              <a:defRPr i="0" sz="1400" b="1">
                <a:solidFill>
                  <a:srgbClr val="FFFFFF"/>
                </a:solidFill>
                <a:latin typeface="Montserrat"/>
              </a:defRPr>
            </a:pPr>
            <a:r>
              <a:rPr i="0" sz="1400" b="1">
                <a:solidFill>
                  <a:srgbClr val="FFFFFF"/>
                </a:solidFill>
                <a:latin typeface="Montserrat"/>
              </a:rPr>
              <a:t>February 11, 2026</a:t>
            </a:r>
          </a:p>
        </p:txBody>
      </p:sp>
      <p:sp>
        <p:nvSpPr>
          <p:cNvPr id="4" name="TextBox 3"/>
          <p:cNvSpPr txBox="1"/>
          <p:nvPr/>
        </p:nvSpPr>
        <p:spPr>
          <a:xfrm>
            <a:off x="812800" y="1778000"/>
            <a:ext cx="6527800" cy="1524000"/>
          </a:xfrm>
          <a:prstGeom prst="rect">
            <a:avLst/>
          </a:prstGeom>
          <a:noFill/>
        </p:spPr>
        <p:txBody>
          <a:bodyPr wrap="square" lIns="0" rIns="0" tIns="0" bIns="0">
            <a:spAutoFit/>
          </a:bodyPr>
          <a:lstStyle/>
          <a:p>
            <a:pPr>
              <a:defRPr i="0" sz="4800" b="1">
                <a:solidFill>
                  <a:srgbClr val="FFFFFF"/>
                </a:solidFill>
                <a:latin typeface="Montserrat"/>
              </a:defRPr>
            </a:pPr>
            <a:r>
              <a:rPr i="0" sz="4800" b="1">
                <a:solidFill>
                  <a:srgbClr val="FFFFFF"/>
                </a:solidFill>
                <a:latin typeface="Montserrat"/>
              </a:rPr>
              <a:t>Re-emerging Charges</a:t>
            </a:r>
          </a:p>
        </p:txBody>
      </p:sp>
      <p:sp>
        <p:nvSpPr>
          <p:cNvPr id="5" name="TextBox 4"/>
          <p:cNvSpPr txBox="1"/>
          <p:nvPr/>
        </p:nvSpPr>
        <p:spPr>
          <a:xfrm>
            <a:off x="812800" y="3708400"/>
            <a:ext cx="6527800" cy="2235200"/>
          </a:xfrm>
          <a:prstGeom prst="rect">
            <a:avLst/>
          </a:prstGeom>
          <a:noFill/>
        </p:spPr>
        <p:txBody>
          <a:bodyPr wrap="square" lIns="0" rIns="0" tIns="0" bIns="0">
            <a:spAutoFit/>
          </a:bodyPr>
          <a:lstStyle/>
          <a:p>
            <a:pPr>
              <a:lnSpc>
                <a:spcPct val="133000"/>
              </a:lnSpc>
              <a:defRPr i="0" sz="1800" b="0">
                <a:solidFill>
                  <a:srgbClr val="FFFFFF"/>
                </a:solidFill>
                <a:latin typeface="Montserrat"/>
              </a:defRPr>
            </a:pPr>
            <a:r>
              <a:rPr i="0" sz="1800" b="0">
                <a:solidFill>
                  <a:srgbClr val="FFFFFF"/>
                </a:solidFill>
                <a:latin typeface="Montserrat"/>
              </a:rPr>
              <a:t>Despite a 2008 plea deal, investigative reporting by the Miami Herald in 2018 brought new attention to the case, highlighting the controversial nature of the previous agreement. This renewed scrutiny led to federal charges in July 2019, alleging sex trafficking of minors in Florida and New York over many years.</a:t>
            </a:r>
          </a:p>
        </p:txBody>
      </p:sp>
      <p:sp>
        <p:nvSpPr>
          <p:cNvPr id="6" name="Rounded Rectangle 5"/>
          <p:cNvSpPr/>
          <p:nvPr/>
        </p:nvSpPr>
        <p:spPr>
          <a:xfrm>
            <a:off x="8940800" y="1524000"/>
            <a:ext cx="6502400" cy="1498600"/>
          </a:xfrm>
          <a:prstGeom prst="roundRect">
            <a:avLst>
              <a:gd name="adj" fmla="val 6779"/>
            </a:avLst>
          </a:prstGeom>
          <a:solidFill>
            <a:srgbClr val="FFFFFF">
              <a:alpha val="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9448800" y="1778000"/>
            <a:ext cx="5715000" cy="355600"/>
          </a:xfrm>
          <a:prstGeom prst="rect">
            <a:avLst/>
          </a:prstGeom>
          <a:noFill/>
        </p:spPr>
        <p:txBody>
          <a:bodyPr wrap="square" lIns="0" rIns="0" tIns="0" bIns="0">
            <a:spAutoFit/>
          </a:bodyPr>
          <a:lstStyle/>
          <a:p>
            <a:pPr algn="l">
              <a:defRPr i="0" sz="2000" b="1">
                <a:solidFill>
                  <a:srgbClr val="FFFFFF"/>
                </a:solidFill>
                <a:latin typeface="Montserrat"/>
              </a:defRPr>
            </a:pPr>
            <a:r>
              <a:rPr i="0" sz="2000" b="1">
                <a:solidFill>
                  <a:srgbClr val="FFFFFF"/>
                </a:solidFill>
                <a:latin typeface="Montserrat"/>
              </a:rPr>
              <a:t>Investigative Scrutiny</a:t>
            </a:r>
          </a:p>
        </p:txBody>
      </p:sp>
      <p:sp>
        <p:nvSpPr>
          <p:cNvPr id="8" name="TextBox 7"/>
          <p:cNvSpPr txBox="1"/>
          <p:nvPr/>
        </p:nvSpPr>
        <p:spPr>
          <a:xfrm>
            <a:off x="9448800" y="2184400"/>
            <a:ext cx="5715000" cy="584200"/>
          </a:xfrm>
          <a:prstGeom prst="rect">
            <a:avLst/>
          </a:prstGeom>
          <a:noFill/>
        </p:spPr>
        <p:txBody>
          <a:bodyPr wrap="square" lIns="0" rIns="0" tIns="0" bIns="0">
            <a:spAutoFit/>
          </a:bodyPr>
          <a:lstStyle/>
          <a:p>
            <a:pPr algn="l">
              <a:lnSpc>
                <a:spcPct val="133000"/>
              </a:lnSpc>
              <a:defRPr i="0" sz="1400" b="0">
                <a:solidFill>
                  <a:srgbClr val="DBEAFE"/>
                </a:solidFill>
                <a:latin typeface="Montserrat"/>
              </a:defRPr>
            </a:pPr>
            <a:r>
              <a:rPr i="0" sz="1400" b="0">
                <a:solidFill>
                  <a:srgbClr val="DBEAFE"/>
                </a:solidFill>
                <a:latin typeface="Montserrat"/>
              </a:rPr>
              <a:t>Miami Herald's 2018 reporting reignited public and legal interest in the case, exposing previous leniency.</a:t>
            </a:r>
          </a:p>
        </p:txBody>
      </p:sp>
      <p:sp>
        <p:nvSpPr>
          <p:cNvPr id="9" name="Rounded Rectangle 8"/>
          <p:cNvSpPr/>
          <p:nvPr/>
        </p:nvSpPr>
        <p:spPr>
          <a:xfrm>
            <a:off x="8940800" y="3416300"/>
            <a:ext cx="6502400" cy="1498600"/>
          </a:xfrm>
          <a:prstGeom prst="roundRect">
            <a:avLst>
              <a:gd name="adj" fmla="val 6779"/>
            </a:avLst>
          </a:prstGeom>
          <a:solidFill>
            <a:srgbClr val="FFFFFF">
              <a:alpha val="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9448800" y="3670300"/>
            <a:ext cx="5715000" cy="355600"/>
          </a:xfrm>
          <a:prstGeom prst="rect">
            <a:avLst/>
          </a:prstGeom>
          <a:noFill/>
        </p:spPr>
        <p:txBody>
          <a:bodyPr wrap="square" lIns="0" rIns="0" tIns="0" bIns="0">
            <a:spAutoFit/>
          </a:bodyPr>
          <a:lstStyle/>
          <a:p>
            <a:pPr algn="l">
              <a:defRPr i="0" sz="2000" b="1">
                <a:solidFill>
                  <a:srgbClr val="FFFFFF"/>
                </a:solidFill>
                <a:latin typeface="Montserrat"/>
              </a:defRPr>
            </a:pPr>
            <a:r>
              <a:rPr i="0" sz="2000" b="1">
                <a:solidFill>
                  <a:srgbClr val="FFFFFF"/>
                </a:solidFill>
                <a:latin typeface="Montserrat"/>
              </a:rPr>
              <a:t>Prior Agreement Controversy</a:t>
            </a:r>
          </a:p>
        </p:txBody>
      </p:sp>
      <p:sp>
        <p:nvSpPr>
          <p:cNvPr id="11" name="TextBox 10"/>
          <p:cNvSpPr txBox="1"/>
          <p:nvPr/>
        </p:nvSpPr>
        <p:spPr>
          <a:xfrm>
            <a:off x="9448800" y="4076700"/>
            <a:ext cx="5715000" cy="584200"/>
          </a:xfrm>
          <a:prstGeom prst="rect">
            <a:avLst/>
          </a:prstGeom>
          <a:noFill/>
        </p:spPr>
        <p:txBody>
          <a:bodyPr wrap="square" lIns="0" rIns="0" tIns="0" bIns="0">
            <a:spAutoFit/>
          </a:bodyPr>
          <a:lstStyle/>
          <a:p>
            <a:pPr algn="l">
              <a:lnSpc>
                <a:spcPct val="133000"/>
              </a:lnSpc>
              <a:defRPr i="0" sz="1400" b="0">
                <a:solidFill>
                  <a:srgbClr val="DBEAFE"/>
                </a:solidFill>
                <a:latin typeface="Montserrat"/>
              </a:defRPr>
            </a:pPr>
            <a:r>
              <a:rPr i="0" sz="1400" b="0">
                <a:solidFill>
                  <a:srgbClr val="DBEAFE"/>
                </a:solidFill>
                <a:latin typeface="Montserrat"/>
              </a:rPr>
              <a:t>The 2008 plea deal's terms and perceived leniency came under intense public and legal scrutiny.</a:t>
            </a:r>
          </a:p>
        </p:txBody>
      </p:sp>
      <p:sp>
        <p:nvSpPr>
          <p:cNvPr id="12" name="Rounded Rectangle 11"/>
          <p:cNvSpPr/>
          <p:nvPr/>
        </p:nvSpPr>
        <p:spPr>
          <a:xfrm>
            <a:off x="8940800" y="5321300"/>
            <a:ext cx="6502400" cy="1498600"/>
          </a:xfrm>
          <a:prstGeom prst="roundRect">
            <a:avLst>
              <a:gd name="adj" fmla="val 6779"/>
            </a:avLst>
          </a:prstGeom>
          <a:solidFill>
            <a:srgbClr val="FFFFFF">
              <a:alpha val="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TextBox 12"/>
          <p:cNvSpPr txBox="1"/>
          <p:nvPr/>
        </p:nvSpPr>
        <p:spPr>
          <a:xfrm>
            <a:off x="9448800" y="5575300"/>
            <a:ext cx="5715000" cy="355600"/>
          </a:xfrm>
          <a:prstGeom prst="rect">
            <a:avLst/>
          </a:prstGeom>
          <a:noFill/>
        </p:spPr>
        <p:txBody>
          <a:bodyPr wrap="square" lIns="0" rIns="0" tIns="0" bIns="0">
            <a:spAutoFit/>
          </a:bodyPr>
          <a:lstStyle/>
          <a:p>
            <a:pPr algn="l">
              <a:defRPr i="0" sz="2000" b="1">
                <a:solidFill>
                  <a:srgbClr val="FFFFFF"/>
                </a:solidFill>
                <a:latin typeface="Montserrat"/>
              </a:defRPr>
            </a:pPr>
            <a:r>
              <a:rPr i="0" sz="2000" b="1">
                <a:solidFill>
                  <a:srgbClr val="FFFFFF"/>
                </a:solidFill>
                <a:latin typeface="Montserrat"/>
              </a:rPr>
              <a:t>Federal Indictment</a:t>
            </a:r>
          </a:p>
        </p:txBody>
      </p:sp>
      <p:sp>
        <p:nvSpPr>
          <p:cNvPr id="14" name="TextBox 13"/>
          <p:cNvSpPr txBox="1"/>
          <p:nvPr/>
        </p:nvSpPr>
        <p:spPr>
          <a:xfrm>
            <a:off x="9448800" y="5981700"/>
            <a:ext cx="5715000" cy="584200"/>
          </a:xfrm>
          <a:prstGeom prst="rect">
            <a:avLst/>
          </a:prstGeom>
          <a:noFill/>
        </p:spPr>
        <p:txBody>
          <a:bodyPr wrap="square" lIns="0" rIns="0" tIns="0" bIns="0">
            <a:spAutoFit/>
          </a:bodyPr>
          <a:lstStyle/>
          <a:p>
            <a:pPr algn="l">
              <a:lnSpc>
                <a:spcPct val="133000"/>
              </a:lnSpc>
              <a:defRPr i="0" sz="1400" b="0">
                <a:solidFill>
                  <a:srgbClr val="DBEAFE"/>
                </a:solidFill>
                <a:latin typeface="Montserrat"/>
              </a:defRPr>
            </a:pPr>
            <a:r>
              <a:rPr i="0" sz="1400" b="0">
                <a:solidFill>
                  <a:srgbClr val="DBEAFE"/>
                </a:solidFill>
                <a:latin typeface="Montserrat"/>
              </a:rPr>
              <a:t>July 2019 brought new federal charges for alleged sex trafficking of minors in multiple states.</a:t>
            </a:r>
          </a:p>
        </p:txBody>
      </p:sp>
      <p:sp>
        <p:nvSpPr>
          <p:cNvPr id="15" name="Rounded Rectangle 14"/>
          <p:cNvSpPr/>
          <p:nvPr/>
        </p:nvSpPr>
        <p:spPr>
          <a:xfrm>
            <a:off x="0" y="9093200"/>
            <a:ext cx="16256000" cy="50800"/>
          </a:xfrm>
          <a:prstGeom prst="roundRect">
            <a:avLst>
              <a:gd name="adj" fmla="val 100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406400"/>
            <a:ext cx="18034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Legal Case Analysis</a:t>
            </a:r>
          </a:p>
        </p:txBody>
      </p:sp>
      <p:sp>
        <p:nvSpPr>
          <p:cNvPr id="3" name="TextBox 2"/>
          <p:cNvSpPr txBox="1"/>
          <p:nvPr/>
        </p:nvSpPr>
        <p:spPr>
          <a:xfrm>
            <a:off x="14211300" y="406400"/>
            <a:ext cx="15621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February 11, 2026</a:t>
            </a:r>
          </a:p>
        </p:txBody>
      </p:sp>
      <p:sp>
        <p:nvSpPr>
          <p:cNvPr id="4" name="TextBox 3"/>
          <p:cNvSpPr txBox="1"/>
          <p:nvPr/>
        </p:nvSpPr>
        <p:spPr>
          <a:xfrm>
            <a:off x="812800" y="927100"/>
            <a:ext cx="6019800" cy="2857500"/>
          </a:xfrm>
          <a:prstGeom prst="rect">
            <a:avLst/>
          </a:prstGeom>
          <a:noFill/>
        </p:spPr>
        <p:txBody>
          <a:bodyPr wrap="square" lIns="0" rIns="0" tIns="0" bIns="0">
            <a:spAutoFit/>
          </a:bodyPr>
          <a:lstStyle/>
          <a:p>
            <a:pPr>
              <a:lnSpc>
                <a:spcPct val="95000"/>
              </a:lnSpc>
              <a:defRPr i="0" sz="6000" b="1">
                <a:solidFill>
                  <a:srgbClr val="2563EB"/>
                </a:solidFill>
                <a:latin typeface="Montserrat"/>
              </a:defRPr>
            </a:pPr>
            <a:r>
              <a:rPr i="0" sz="6000" b="1">
                <a:solidFill>
                  <a:srgbClr val="2563EB"/>
                </a:solidFill>
                <a:latin typeface="Montserrat"/>
              </a:rPr>
              <a:t>Arrest and Death in Custody</a:t>
            </a:r>
          </a:p>
        </p:txBody>
      </p:sp>
      <p:sp>
        <p:nvSpPr>
          <p:cNvPr id="5" name="TextBox 4"/>
          <p:cNvSpPr txBox="1"/>
          <p:nvPr/>
        </p:nvSpPr>
        <p:spPr>
          <a:xfrm>
            <a:off x="812800" y="4191000"/>
            <a:ext cx="6019800" cy="2603500"/>
          </a:xfrm>
          <a:prstGeom prst="rect">
            <a:avLst/>
          </a:prstGeom>
          <a:noFill/>
        </p:spPr>
        <p:txBody>
          <a:bodyPr wrap="square" lIns="0" rIns="0" tIns="0" bIns="0">
            <a:spAutoFit/>
          </a:bodyPr>
          <a:lstStyle/>
          <a:p>
            <a:pPr>
              <a:lnSpc>
                <a:spcPct val="133000"/>
              </a:lnSpc>
              <a:defRPr i="0" sz="1800" b="0">
                <a:solidFill>
                  <a:srgbClr val="2563EB"/>
                </a:solidFill>
                <a:latin typeface="Montserrat"/>
              </a:defRPr>
            </a:pPr>
            <a:r>
              <a:rPr i="0" sz="1800" b="0">
                <a:solidFill>
                  <a:srgbClr val="2563EB"/>
                </a:solidFill>
                <a:latin typeface="Montserrat"/>
              </a:rPr>
              <a:t>Jeffrey Epstein was arrested on July 6, 2019, charged with sex trafficking, pleading not guilty. He was found dead in his Metropolitan Correctional Center cell on August 10, 2019. The official cause was suicide by hanging, but this ruling remains highly controversial, sparking extensive public and legal debate.</a:t>
            </a:r>
          </a:p>
        </p:txBody>
      </p:sp>
      <p:sp>
        <p:nvSpPr>
          <p:cNvPr id="6" name="Rounded Rectangle 5"/>
          <p:cNvSpPr/>
          <p:nvPr/>
        </p:nvSpPr>
        <p:spPr>
          <a:xfrm>
            <a:off x="8940800" y="1244600"/>
            <a:ext cx="3048000" cy="3251200"/>
          </a:xfrm>
          <a:prstGeom prst="roundRect">
            <a:avLst>
              <a:gd name="adj" fmla="val 25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TextBox 6"/>
          <p:cNvSpPr txBox="1"/>
          <p:nvPr/>
        </p:nvSpPr>
        <p:spPr>
          <a:xfrm>
            <a:off x="9194800" y="1574800"/>
            <a:ext cx="2565400" cy="711200"/>
          </a:xfrm>
          <a:prstGeom prst="rect">
            <a:avLst/>
          </a:prstGeom>
          <a:noFill/>
        </p:spPr>
        <p:txBody>
          <a:bodyPr wrap="square" lIns="0" rIns="0" tIns="0" bIns="0">
            <a:spAutoFit/>
          </a:bodyPr>
          <a:lstStyle/>
          <a:p>
            <a:pPr algn="ctr">
              <a:defRPr i="0" sz="2000" b="1">
                <a:solidFill>
                  <a:srgbClr val="FFFFFF"/>
                </a:solidFill>
                <a:latin typeface="Montserrat"/>
              </a:defRPr>
            </a:pPr>
            <a:r>
              <a:rPr i="0" sz="2000" b="1">
                <a:solidFill>
                  <a:srgbClr val="FFFFFF"/>
                </a:solidFill>
                <a:latin typeface="Montserrat"/>
              </a:rPr>
              <a:t>Initial Arrest &amp; Charges</a:t>
            </a:r>
          </a:p>
        </p:txBody>
      </p:sp>
      <p:sp>
        <p:nvSpPr>
          <p:cNvPr id="8" name="TextBox 7"/>
          <p:cNvSpPr txBox="1"/>
          <p:nvPr/>
        </p:nvSpPr>
        <p:spPr>
          <a:xfrm>
            <a:off x="9194800" y="2438400"/>
            <a:ext cx="2565400" cy="1739900"/>
          </a:xfrm>
          <a:prstGeom prst="rect">
            <a:avLst/>
          </a:prstGeom>
          <a:noFill/>
        </p:spPr>
        <p:txBody>
          <a:bodyPr wrap="square" lIns="0" rIns="0" tIns="0" bIns="0">
            <a:spAutoFit/>
          </a:bodyPr>
          <a:lstStyle/>
          <a:p>
            <a:pPr algn="ctr">
              <a:lnSpc>
                <a:spcPct val="133000"/>
              </a:lnSpc>
              <a:defRPr i="0" sz="1400" b="0">
                <a:solidFill>
                  <a:srgbClr val="FFFFFF"/>
                </a:solidFill>
                <a:latin typeface="Montserrat"/>
              </a:defRPr>
            </a:pPr>
            <a:r>
              <a:rPr i="0" sz="1400" b="0">
                <a:solidFill>
                  <a:srgbClr val="FFFFFF"/>
                </a:solidFill>
                <a:latin typeface="Montserrat"/>
              </a:rPr>
              <a:t>Epstein was arrested on July 6, 2019, facing sex trafficking charges. He consistently maintained his innocence throughout the legal proceedings.</a:t>
            </a:r>
          </a:p>
        </p:txBody>
      </p:sp>
      <p:pic>
        <p:nvPicPr>
          <p:cNvPr id="9" name="Picture 8" descr="fbff9bfa-9cce-4564-a6f5-1a6b61d87f86.png"/>
          <p:cNvPicPr>
            <a:picLocks noChangeAspect="1"/>
          </p:cNvPicPr>
          <p:nvPr/>
        </p:nvPicPr>
        <p:blipFill>
          <a:blip r:embed="rId3"/>
          <a:stretch>
            <a:fillRect/>
          </a:stretch>
        </p:blipFill>
        <p:spPr>
          <a:xfrm>
            <a:off x="8940800" y="4495800"/>
            <a:ext cx="3048000" cy="2590800"/>
          </a:xfrm>
          <a:prstGeom prst="rect">
            <a:avLst/>
          </a:prstGeom>
        </p:spPr>
      </p:pic>
      <p:pic>
        <p:nvPicPr>
          <p:cNvPr id="10" name="Picture 9" descr="237f53eb-11a1-44c1-99cc-2c56685435b7.png"/>
          <p:cNvPicPr>
            <a:picLocks noChangeAspect="1"/>
          </p:cNvPicPr>
          <p:nvPr/>
        </p:nvPicPr>
        <p:blipFill>
          <a:blip r:embed="rId4"/>
          <a:stretch>
            <a:fillRect/>
          </a:stretch>
        </p:blipFill>
        <p:spPr>
          <a:xfrm>
            <a:off x="12395200" y="1244600"/>
            <a:ext cx="3048000" cy="2590800"/>
          </a:xfrm>
          <a:prstGeom prst="rect">
            <a:avLst/>
          </a:prstGeom>
        </p:spPr>
      </p:pic>
      <p:sp>
        <p:nvSpPr>
          <p:cNvPr id="11" name="Rounded Rectangle 10"/>
          <p:cNvSpPr/>
          <p:nvPr/>
        </p:nvSpPr>
        <p:spPr>
          <a:xfrm>
            <a:off x="12395200" y="3835400"/>
            <a:ext cx="3048000" cy="3251200"/>
          </a:xfrm>
          <a:prstGeom prst="roundRect">
            <a:avLst>
              <a:gd name="adj" fmla="val 2500"/>
            </a:avLst>
          </a:prstGeom>
          <a:solidFill>
            <a:srgbClr val="F3F4F6"/>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12649200" y="4305300"/>
            <a:ext cx="2565400" cy="711200"/>
          </a:xfrm>
          <a:prstGeom prst="rect">
            <a:avLst/>
          </a:prstGeom>
          <a:noFill/>
        </p:spPr>
        <p:txBody>
          <a:bodyPr wrap="square" lIns="0" rIns="0" tIns="0" bIns="0">
            <a:spAutoFit/>
          </a:bodyPr>
          <a:lstStyle/>
          <a:p>
            <a:pPr algn="ctr">
              <a:defRPr i="0" sz="2000" b="1">
                <a:solidFill>
                  <a:srgbClr val="2563EB"/>
                </a:solidFill>
                <a:latin typeface="Montserrat"/>
              </a:defRPr>
            </a:pPr>
            <a:r>
              <a:rPr i="0" sz="2000" b="1">
                <a:solidFill>
                  <a:srgbClr val="2563EB"/>
                </a:solidFill>
                <a:latin typeface="Montserrat"/>
              </a:rPr>
              <a:t>Death in Custody &amp; Aftermath</a:t>
            </a:r>
          </a:p>
        </p:txBody>
      </p:sp>
      <p:sp>
        <p:nvSpPr>
          <p:cNvPr id="13" name="TextBox 12"/>
          <p:cNvSpPr txBox="1"/>
          <p:nvPr/>
        </p:nvSpPr>
        <p:spPr>
          <a:xfrm>
            <a:off x="12649200" y="5168900"/>
            <a:ext cx="2565400" cy="1447800"/>
          </a:xfrm>
          <a:prstGeom prst="rect">
            <a:avLst/>
          </a:prstGeom>
          <a:noFill/>
        </p:spPr>
        <p:txBody>
          <a:bodyPr wrap="square" lIns="0" rIns="0" tIns="0" bIns="0">
            <a:spAutoFit/>
          </a:bodyPr>
          <a:lstStyle/>
          <a:p>
            <a:pPr algn="ctr">
              <a:lnSpc>
                <a:spcPct val="133000"/>
              </a:lnSpc>
              <a:defRPr i="0" sz="1400" b="0">
                <a:solidFill>
                  <a:srgbClr val="2563EB"/>
                </a:solidFill>
                <a:latin typeface="Montserrat"/>
              </a:defRPr>
            </a:pPr>
            <a:r>
              <a:rPr i="0" sz="1400" b="0">
                <a:solidFill>
                  <a:srgbClr val="2563EB"/>
                </a:solidFill>
                <a:latin typeface="Montserrat"/>
              </a:rPr>
              <a:t>His death on August 10, 2019, in his cell was ruled a suicide. This ruling sparked widespread skepticism and ongoing investigations.</a:t>
            </a:r>
          </a:p>
        </p:txBody>
      </p:sp>
      <p:sp>
        <p:nvSpPr>
          <p:cNvPr id="14" name="Rounded Rectangle 13"/>
          <p:cNvSpPr/>
          <p:nvPr/>
        </p:nvSpPr>
        <p:spPr>
          <a:xfrm>
            <a:off x="0" y="9093200"/>
            <a:ext cx="16256000" cy="50800"/>
          </a:xfrm>
          <a:prstGeom prst="roundRect">
            <a:avLst>
              <a:gd name="adj" fmla="val 1000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406400"/>
            <a:ext cx="18542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Federal Prosecution</a:t>
            </a:r>
          </a:p>
        </p:txBody>
      </p:sp>
      <p:sp>
        <p:nvSpPr>
          <p:cNvPr id="3" name="TextBox 2"/>
          <p:cNvSpPr txBox="1"/>
          <p:nvPr/>
        </p:nvSpPr>
        <p:spPr>
          <a:xfrm>
            <a:off x="14211300" y="406400"/>
            <a:ext cx="15621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February 11, 2026</a:t>
            </a:r>
          </a:p>
        </p:txBody>
      </p:sp>
      <p:sp>
        <p:nvSpPr>
          <p:cNvPr id="4" name="Rounded Rectangle 3"/>
          <p:cNvSpPr/>
          <p:nvPr/>
        </p:nvSpPr>
        <p:spPr>
          <a:xfrm>
            <a:off x="0" y="9093200"/>
            <a:ext cx="16256000" cy="50800"/>
          </a:xfrm>
          <a:prstGeom prst="roundRect">
            <a:avLst>
              <a:gd name="adj" fmla="val 1000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TextBox 4"/>
          <p:cNvSpPr txBox="1"/>
          <p:nvPr/>
        </p:nvSpPr>
        <p:spPr>
          <a:xfrm>
            <a:off x="812800" y="1244600"/>
            <a:ext cx="4737100" cy="1143000"/>
          </a:xfrm>
          <a:prstGeom prst="rect">
            <a:avLst/>
          </a:prstGeom>
          <a:noFill/>
        </p:spPr>
        <p:txBody>
          <a:bodyPr wrap="square" lIns="0" rIns="0" tIns="0" bIns="0">
            <a:spAutoFit/>
          </a:bodyPr>
          <a:lstStyle/>
          <a:p>
            <a:pPr>
              <a:defRPr i="0" sz="7200" b="1">
                <a:solidFill>
                  <a:srgbClr val="2563EB"/>
                </a:solidFill>
                <a:latin typeface="Montserrat"/>
              </a:defRPr>
            </a:pPr>
            <a:r>
              <a:rPr i="0" sz="7200" b="1">
                <a:solidFill>
                  <a:srgbClr val="2563EB"/>
                </a:solidFill>
                <a:latin typeface="Montserrat"/>
              </a:rPr>
              <a:t>Aftermath</a:t>
            </a:r>
          </a:p>
        </p:txBody>
      </p:sp>
      <p:sp>
        <p:nvSpPr>
          <p:cNvPr id="6" name="TextBox 5"/>
          <p:cNvSpPr txBox="1"/>
          <p:nvPr/>
        </p:nvSpPr>
        <p:spPr>
          <a:xfrm>
            <a:off x="812800" y="2590800"/>
            <a:ext cx="6527800" cy="749300"/>
          </a:xfrm>
          <a:prstGeom prst="rect">
            <a:avLst/>
          </a:prstGeom>
          <a:noFill/>
        </p:spPr>
        <p:txBody>
          <a:bodyPr wrap="square" lIns="0" rIns="0" tIns="0" bIns="0">
            <a:spAutoFit/>
          </a:bodyPr>
          <a:lstStyle/>
          <a:p>
            <a:pPr>
              <a:lnSpc>
                <a:spcPct val="133000"/>
              </a:lnSpc>
              <a:defRPr i="0" sz="1800" b="0">
                <a:solidFill>
                  <a:srgbClr val="2563EB"/>
                </a:solidFill>
                <a:latin typeface="Montserrat"/>
              </a:defRPr>
            </a:pPr>
            <a:r>
              <a:rPr i="0" sz="1800" b="0">
                <a:solidFill>
                  <a:srgbClr val="2563EB"/>
                </a:solidFill>
                <a:latin typeface="Montserrat"/>
              </a:rPr>
              <a:t>Key figures linked to the ongoing investigations following Epstein's death and Maxwell's conviction.</a:t>
            </a:r>
          </a:p>
        </p:txBody>
      </p:sp>
      <p:sp>
        <p:nvSpPr>
          <p:cNvPr id="7" name="Rounded Rectangle 6"/>
          <p:cNvSpPr/>
          <p:nvPr/>
        </p:nvSpPr>
        <p:spPr>
          <a:xfrm>
            <a:off x="2870200" y="4038600"/>
            <a:ext cx="3048000" cy="4572000"/>
          </a:xfrm>
          <a:prstGeom prst="roundRect">
            <a:avLst>
              <a:gd name="adj" fmla="val 3333"/>
            </a:avLst>
          </a:prstGeom>
          <a:solidFill>
            <a:srgbClr val="F7F9FC"/>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Rounded Rectangle 7"/>
          <p:cNvSpPr/>
          <p:nvPr/>
        </p:nvSpPr>
        <p:spPr>
          <a:xfrm>
            <a:off x="3683000" y="4343400"/>
            <a:ext cx="1422400" cy="1422400"/>
          </a:xfrm>
          <a:prstGeom prst="roundRect">
            <a:avLst>
              <a:gd name="adj" fmla="val 3571"/>
            </a:avLst>
          </a:prstGeom>
          <a:solidFill>
            <a:srgbClr val="FFFFFF"/>
          </a:solidFill>
          <a:ln w="25400">
            <a:solidFill>
              <a:srgbClr val="DBEAFE"/>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9" name="Picture 8" descr="c656dc5b-217c-47c4-aaf2-bf1fb9c3a53b.png"/>
          <p:cNvPicPr>
            <a:picLocks noChangeAspect="1"/>
          </p:cNvPicPr>
          <p:nvPr/>
        </p:nvPicPr>
        <p:blipFill>
          <a:blip r:embed="rId3"/>
          <a:stretch>
            <a:fillRect/>
          </a:stretch>
        </p:blipFill>
        <p:spPr>
          <a:xfrm>
            <a:off x="3708400" y="4368800"/>
            <a:ext cx="1371600" cy="1371600"/>
          </a:xfrm>
          <a:prstGeom prst="rect">
            <a:avLst/>
          </a:prstGeom>
        </p:spPr>
      </p:pic>
      <p:sp>
        <p:nvSpPr>
          <p:cNvPr id="10" name="TextBox 9"/>
          <p:cNvSpPr txBox="1"/>
          <p:nvPr/>
        </p:nvSpPr>
        <p:spPr>
          <a:xfrm>
            <a:off x="3314700" y="5969000"/>
            <a:ext cx="2184400" cy="355600"/>
          </a:xfrm>
          <a:prstGeom prst="rect">
            <a:avLst/>
          </a:prstGeom>
          <a:noFill/>
        </p:spPr>
        <p:txBody>
          <a:bodyPr wrap="square" lIns="0" rIns="0" tIns="0" bIns="0">
            <a:spAutoFit/>
          </a:bodyPr>
          <a:lstStyle/>
          <a:p>
            <a:pPr algn="l">
              <a:defRPr i="0" sz="1800" b="1">
                <a:solidFill>
                  <a:srgbClr val="1D4ED8"/>
                </a:solidFill>
                <a:latin typeface="Montserrat"/>
              </a:defRPr>
            </a:pPr>
            <a:r>
              <a:rPr i="0" sz="1800" b="1">
                <a:solidFill>
                  <a:srgbClr val="1D4ED8"/>
                </a:solidFill>
                <a:latin typeface="Montserrat"/>
              </a:rPr>
              <a:t>Ghislaine Maxwell</a:t>
            </a:r>
          </a:p>
        </p:txBody>
      </p:sp>
      <p:sp>
        <p:nvSpPr>
          <p:cNvPr id="11" name="Rounded Rectangle 10"/>
          <p:cNvSpPr/>
          <p:nvPr/>
        </p:nvSpPr>
        <p:spPr>
          <a:xfrm>
            <a:off x="3263900" y="6375400"/>
            <a:ext cx="2247900" cy="304800"/>
          </a:xfrm>
          <a:prstGeom prst="roundRect">
            <a:avLst>
              <a:gd name="adj" fmla="val 16666"/>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TextBox 11"/>
          <p:cNvSpPr txBox="1"/>
          <p:nvPr/>
        </p:nvSpPr>
        <p:spPr>
          <a:xfrm>
            <a:off x="3416300" y="6426200"/>
            <a:ext cx="1968500" cy="203200"/>
          </a:xfrm>
          <a:prstGeom prst="rect">
            <a:avLst/>
          </a:prstGeom>
          <a:noFill/>
        </p:spPr>
        <p:txBody>
          <a:bodyPr wrap="square" lIns="0" rIns="0" tIns="0" bIns="0">
            <a:spAutoFit/>
          </a:bodyPr>
          <a:lstStyle/>
          <a:p>
            <a:pPr algn="l">
              <a:defRPr i="0" sz="1200" b="1">
                <a:solidFill>
                  <a:srgbClr val="FFFFFF"/>
                </a:solidFill>
                <a:latin typeface="Montserrat"/>
              </a:defRPr>
            </a:pPr>
            <a:r>
              <a:rPr i="0" sz="1200" b="1">
                <a:solidFill>
                  <a:srgbClr val="FFFFFF"/>
                </a:solidFill>
                <a:latin typeface="Montserrat"/>
              </a:rPr>
              <a:t>Convicted Associate</a:t>
            </a:r>
          </a:p>
        </p:txBody>
      </p:sp>
      <p:sp>
        <p:nvSpPr>
          <p:cNvPr id="13" name="TextBox 12"/>
          <p:cNvSpPr txBox="1"/>
          <p:nvPr/>
        </p:nvSpPr>
        <p:spPr>
          <a:xfrm>
            <a:off x="3175000" y="6781800"/>
            <a:ext cx="2463800" cy="1524000"/>
          </a:xfrm>
          <a:prstGeom prst="rect">
            <a:avLst/>
          </a:prstGeom>
          <a:noFill/>
        </p:spPr>
        <p:txBody>
          <a:bodyPr wrap="square" lIns="0" rIns="0" tIns="0" bIns="0">
            <a:spAutoFit/>
          </a:bodyPr>
          <a:lstStyle/>
          <a:p>
            <a:pPr algn="ctr">
              <a:lnSpc>
                <a:spcPct val="113000"/>
              </a:lnSpc>
              <a:defRPr i="0" sz="1400" b="0">
                <a:solidFill>
                  <a:srgbClr val="374151"/>
                </a:solidFill>
                <a:latin typeface="Montserrat"/>
              </a:defRPr>
            </a:pPr>
            <a:r>
              <a:rPr i="0" sz="1400" b="0">
                <a:solidFill>
                  <a:srgbClr val="374151"/>
                </a:solidFill>
                <a:latin typeface="Montserrat"/>
              </a:rPr>
              <a:t>Epstein's associate. Convicted Dec 2021 on five sex trafficking counts, including minors. Sentenced to 20 years in 2022.</a:t>
            </a:r>
          </a:p>
        </p:txBody>
      </p:sp>
      <p:sp>
        <p:nvSpPr>
          <p:cNvPr id="14" name="Rounded Rectangle 13"/>
          <p:cNvSpPr/>
          <p:nvPr/>
        </p:nvSpPr>
        <p:spPr>
          <a:xfrm>
            <a:off x="10337800" y="4038600"/>
            <a:ext cx="3048000" cy="4572000"/>
          </a:xfrm>
          <a:prstGeom prst="roundRect">
            <a:avLst>
              <a:gd name="adj" fmla="val 3333"/>
            </a:avLst>
          </a:prstGeom>
          <a:solidFill>
            <a:srgbClr val="F7F9FC"/>
          </a:solidFill>
          <a:ln>
            <a:noFill/>
          </a:ln>
          <a:effectLst>
            <a:outerShdw blurRad="76200" dir="5400000" dist="508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ounded Rectangle 14"/>
          <p:cNvSpPr/>
          <p:nvPr/>
        </p:nvSpPr>
        <p:spPr>
          <a:xfrm>
            <a:off x="11150600" y="4343400"/>
            <a:ext cx="1422400" cy="1422400"/>
          </a:xfrm>
          <a:prstGeom prst="roundRect">
            <a:avLst>
              <a:gd name="adj" fmla="val 3571"/>
            </a:avLst>
          </a:prstGeom>
          <a:solidFill>
            <a:srgbClr val="FFFFFF"/>
          </a:solidFill>
          <a:ln w="25400">
            <a:solidFill>
              <a:srgbClr val="DBEAFE"/>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16" name="Picture 15" descr="74afd44e-0ad3-4bbf-b101-50d2e48bf8bd.png"/>
          <p:cNvPicPr>
            <a:picLocks noChangeAspect="1"/>
          </p:cNvPicPr>
          <p:nvPr/>
        </p:nvPicPr>
        <p:blipFill>
          <a:blip r:embed="rId4"/>
          <a:stretch>
            <a:fillRect/>
          </a:stretch>
        </p:blipFill>
        <p:spPr>
          <a:xfrm>
            <a:off x="11176000" y="4368800"/>
            <a:ext cx="1371600" cy="1371600"/>
          </a:xfrm>
          <a:prstGeom prst="rect">
            <a:avLst/>
          </a:prstGeom>
        </p:spPr>
      </p:pic>
      <p:sp>
        <p:nvSpPr>
          <p:cNvPr id="17" name="TextBox 16"/>
          <p:cNvSpPr txBox="1"/>
          <p:nvPr/>
        </p:nvSpPr>
        <p:spPr>
          <a:xfrm>
            <a:off x="10972800" y="5969000"/>
            <a:ext cx="1816100" cy="355600"/>
          </a:xfrm>
          <a:prstGeom prst="rect">
            <a:avLst/>
          </a:prstGeom>
          <a:noFill/>
        </p:spPr>
        <p:txBody>
          <a:bodyPr wrap="square" lIns="0" rIns="0" tIns="0" bIns="0">
            <a:spAutoFit/>
          </a:bodyPr>
          <a:lstStyle/>
          <a:p>
            <a:pPr algn="l">
              <a:defRPr i="0" sz="1800" b="1">
                <a:solidFill>
                  <a:srgbClr val="1D4ED8"/>
                </a:solidFill>
                <a:latin typeface="Montserrat"/>
              </a:defRPr>
            </a:pPr>
            <a:r>
              <a:rPr i="0" sz="1800" b="1">
                <a:solidFill>
                  <a:srgbClr val="1D4ED8"/>
                </a:solidFill>
                <a:latin typeface="Montserrat"/>
              </a:rPr>
              <a:t>Jeffrey Epstein</a:t>
            </a:r>
          </a:p>
        </p:txBody>
      </p:sp>
      <p:sp>
        <p:nvSpPr>
          <p:cNvPr id="18" name="Rounded Rectangle 17"/>
          <p:cNvSpPr/>
          <p:nvPr/>
        </p:nvSpPr>
        <p:spPr>
          <a:xfrm>
            <a:off x="10782300" y="6375400"/>
            <a:ext cx="2171700" cy="304800"/>
          </a:xfrm>
          <a:prstGeom prst="roundRect">
            <a:avLst>
              <a:gd name="adj" fmla="val 16666"/>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TextBox 18"/>
          <p:cNvSpPr txBox="1"/>
          <p:nvPr/>
        </p:nvSpPr>
        <p:spPr>
          <a:xfrm>
            <a:off x="10934700" y="6426200"/>
            <a:ext cx="1892300" cy="203200"/>
          </a:xfrm>
          <a:prstGeom prst="rect">
            <a:avLst/>
          </a:prstGeom>
          <a:noFill/>
        </p:spPr>
        <p:txBody>
          <a:bodyPr wrap="square" lIns="0" rIns="0" tIns="0" bIns="0">
            <a:spAutoFit/>
          </a:bodyPr>
          <a:lstStyle/>
          <a:p>
            <a:pPr algn="l">
              <a:defRPr i="0" sz="1200" b="1">
                <a:solidFill>
                  <a:srgbClr val="FFFFFF"/>
                </a:solidFill>
                <a:latin typeface="Montserrat"/>
              </a:defRPr>
            </a:pPr>
            <a:r>
              <a:rPr i="0" sz="1200" b="1">
                <a:solidFill>
                  <a:srgbClr val="FFFFFF"/>
                </a:solidFill>
                <a:latin typeface="Montserrat"/>
              </a:rPr>
              <a:t>Deceased Financier</a:t>
            </a:r>
          </a:p>
        </p:txBody>
      </p:sp>
      <p:sp>
        <p:nvSpPr>
          <p:cNvPr id="20" name="TextBox 19"/>
          <p:cNvSpPr txBox="1"/>
          <p:nvPr/>
        </p:nvSpPr>
        <p:spPr>
          <a:xfrm>
            <a:off x="10642600" y="6781800"/>
            <a:ext cx="2463800" cy="1524000"/>
          </a:xfrm>
          <a:prstGeom prst="rect">
            <a:avLst/>
          </a:prstGeom>
          <a:noFill/>
        </p:spPr>
        <p:txBody>
          <a:bodyPr wrap="square" lIns="0" rIns="0" tIns="0" bIns="0">
            <a:spAutoFit/>
          </a:bodyPr>
          <a:lstStyle/>
          <a:p>
            <a:pPr algn="ctr">
              <a:lnSpc>
                <a:spcPct val="113000"/>
              </a:lnSpc>
              <a:defRPr i="0" sz="1400" b="0">
                <a:solidFill>
                  <a:srgbClr val="374151"/>
                </a:solidFill>
                <a:latin typeface="Montserrat"/>
              </a:defRPr>
            </a:pPr>
            <a:r>
              <a:rPr i="0" sz="1400" b="0">
                <a:solidFill>
                  <a:srgbClr val="374151"/>
                </a:solidFill>
                <a:latin typeface="Montserrat"/>
              </a:rPr>
              <a:t>His death initiated continued investigations into sex trafficking, leading to his associate's prosecution and conviction.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8000" y="406400"/>
            <a:ext cx="21844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Justice System Insights</a:t>
            </a:r>
          </a:p>
        </p:txBody>
      </p:sp>
      <p:sp>
        <p:nvSpPr>
          <p:cNvPr id="3" name="TextBox 2"/>
          <p:cNvSpPr txBox="1"/>
          <p:nvPr/>
        </p:nvSpPr>
        <p:spPr>
          <a:xfrm>
            <a:off x="14820900" y="406400"/>
            <a:ext cx="952500" cy="254000"/>
          </a:xfrm>
          <a:prstGeom prst="rect">
            <a:avLst/>
          </a:prstGeom>
          <a:noFill/>
        </p:spPr>
        <p:txBody>
          <a:bodyPr wrap="square" lIns="0" rIns="0" tIns="0" bIns="0">
            <a:spAutoFit/>
          </a:bodyPr>
          <a:lstStyle/>
          <a:p>
            <a:pPr algn="l">
              <a:defRPr i="0" sz="1400" b="1">
                <a:solidFill>
                  <a:srgbClr val="1E4CD9"/>
                </a:solidFill>
                <a:latin typeface="Montserrat"/>
              </a:defRPr>
            </a:pPr>
            <a:r>
              <a:rPr i="0" sz="1400" b="1">
                <a:solidFill>
                  <a:srgbClr val="1E4CD9"/>
                </a:solidFill>
                <a:latin typeface="Montserrat"/>
              </a:rPr>
              <a:t>2026-02-11</a:t>
            </a:r>
          </a:p>
        </p:txBody>
      </p:sp>
      <p:sp>
        <p:nvSpPr>
          <p:cNvPr id="4" name="TextBox 3"/>
          <p:cNvSpPr txBox="1"/>
          <p:nvPr/>
        </p:nvSpPr>
        <p:spPr>
          <a:xfrm>
            <a:off x="812800" y="533400"/>
            <a:ext cx="6032500" cy="3810000"/>
          </a:xfrm>
          <a:prstGeom prst="rect">
            <a:avLst/>
          </a:prstGeom>
          <a:noFill/>
        </p:spPr>
        <p:txBody>
          <a:bodyPr wrap="square" lIns="0" rIns="0" tIns="0" bIns="0">
            <a:spAutoFit/>
          </a:bodyPr>
          <a:lstStyle/>
          <a:p>
            <a:pPr>
              <a:lnSpc>
                <a:spcPct val="95000"/>
              </a:lnSpc>
              <a:defRPr i="0" sz="6000" b="1">
                <a:solidFill>
                  <a:srgbClr val="2563EB"/>
                </a:solidFill>
                <a:latin typeface="Montserrat"/>
              </a:defRPr>
            </a:pPr>
            <a:r>
              <a:rPr i="0" sz="6000" b="1">
                <a:solidFill>
                  <a:srgbClr val="2563EB"/>
                </a:solidFill>
                <a:latin typeface="Montserrat"/>
              </a:rPr>
              <a:t>Lasting Impact and Lingering Questions</a:t>
            </a:r>
          </a:p>
        </p:txBody>
      </p:sp>
      <p:sp>
        <p:nvSpPr>
          <p:cNvPr id="5" name="Rounded Rectangle 4"/>
          <p:cNvSpPr/>
          <p:nvPr/>
        </p:nvSpPr>
        <p:spPr>
          <a:xfrm>
            <a:off x="812800" y="4546600"/>
            <a:ext cx="6007100" cy="3657600"/>
          </a:xfrm>
          <a:prstGeom prst="roundRect">
            <a:avLst>
              <a:gd name="adj" fmla="val 2777"/>
            </a:avLst>
          </a:prstGeom>
          <a:solidFill>
            <a:srgbClr val="FFFFFF"/>
          </a:solidFill>
          <a:ln>
            <a:noFill/>
          </a:ln>
          <a:effectLst>
            <a:outerShdw blurRad="25400" dir="5400000" dist="12700" rotWithShape="0">
              <a:srgbClr val="000000">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6" name="Picture 5" descr="aa7471d5-6f08-4e9c-a2bd-03b84ab23890.png"/>
          <p:cNvPicPr>
            <a:picLocks noChangeAspect="1"/>
          </p:cNvPicPr>
          <p:nvPr/>
        </p:nvPicPr>
        <p:blipFill>
          <a:blip r:embed="rId3"/>
          <a:stretch>
            <a:fillRect/>
          </a:stretch>
        </p:blipFill>
        <p:spPr>
          <a:xfrm>
            <a:off x="1016000" y="4749800"/>
            <a:ext cx="5600700" cy="3251200"/>
          </a:xfrm>
          <a:prstGeom prst="rect">
            <a:avLst/>
          </a:prstGeom>
        </p:spPr>
      </p:pic>
      <p:sp>
        <p:nvSpPr>
          <p:cNvPr id="7" name="TextBox 6"/>
          <p:cNvSpPr txBox="1"/>
          <p:nvPr/>
        </p:nvSpPr>
        <p:spPr>
          <a:xfrm>
            <a:off x="1612900" y="7607300"/>
            <a:ext cx="482600" cy="241300"/>
          </a:xfrm>
          <a:prstGeom prst="rect">
            <a:avLst/>
          </a:prstGeom>
          <a:noFill/>
        </p:spPr>
        <p:txBody>
          <a:bodyPr wrap="none" lIns="0" rIns="0" tIns="0" bIns="0">
            <a:spAutoFit/>
          </a:bodyPr>
          <a:lstStyle/>
          <a:p>
            <a:pPr algn="l">
              <a:defRPr i="0" sz="1600" b="1">
                <a:solidFill>
                  <a:srgbClr val="09090B"/>
                </a:solidFill>
                <a:latin typeface="Montserrat"/>
              </a:defRPr>
            </a:pPr>
            <a:r>
              <a:rPr i="0" sz="1600" b="1">
                <a:solidFill>
                  <a:srgbClr val="09090B"/>
                </a:solidFill>
                <a:latin typeface="Montserrat"/>
              </a:rPr>
              <a:t>2019</a:t>
            </a:r>
          </a:p>
        </p:txBody>
      </p:sp>
      <p:sp>
        <p:nvSpPr>
          <p:cNvPr id="8" name="TextBox 7"/>
          <p:cNvSpPr txBox="1"/>
          <p:nvPr/>
        </p:nvSpPr>
        <p:spPr>
          <a:xfrm>
            <a:off x="3937000" y="7607300"/>
            <a:ext cx="533400" cy="241300"/>
          </a:xfrm>
          <a:prstGeom prst="rect">
            <a:avLst/>
          </a:prstGeom>
          <a:noFill/>
        </p:spPr>
        <p:txBody>
          <a:bodyPr wrap="none" lIns="0" rIns="0" tIns="0" bIns="0">
            <a:spAutoFit/>
          </a:bodyPr>
          <a:lstStyle/>
          <a:p>
            <a:pPr algn="l">
              <a:defRPr i="0" sz="1600" b="1">
                <a:solidFill>
                  <a:srgbClr val="09090B"/>
                </a:solidFill>
                <a:latin typeface="Montserrat"/>
              </a:defRPr>
            </a:pPr>
            <a:r>
              <a:rPr i="0" sz="1600" b="1">
                <a:solidFill>
                  <a:srgbClr val="09090B"/>
                </a:solidFill>
                <a:latin typeface="Montserrat"/>
              </a:rPr>
              <a:t>2020</a:t>
            </a:r>
          </a:p>
        </p:txBody>
      </p:sp>
      <p:sp>
        <p:nvSpPr>
          <p:cNvPr id="9" name="TextBox 8"/>
          <p:cNvSpPr txBox="1"/>
          <p:nvPr/>
        </p:nvSpPr>
        <p:spPr>
          <a:xfrm>
            <a:off x="6172200" y="7607300"/>
            <a:ext cx="469900" cy="241300"/>
          </a:xfrm>
          <a:prstGeom prst="rect">
            <a:avLst/>
          </a:prstGeom>
          <a:noFill/>
        </p:spPr>
        <p:txBody>
          <a:bodyPr wrap="none" lIns="0" rIns="0" tIns="0" bIns="0">
            <a:spAutoFit/>
          </a:bodyPr>
          <a:lstStyle/>
          <a:p>
            <a:pPr algn="l">
              <a:defRPr i="0" sz="1600" b="1">
                <a:solidFill>
                  <a:srgbClr val="09090B"/>
                </a:solidFill>
                <a:latin typeface="Montserrat"/>
              </a:defRPr>
            </a:pPr>
            <a:r>
              <a:rPr i="0" sz="1600" b="1">
                <a:solidFill>
                  <a:srgbClr val="09090B"/>
                </a:solidFill>
                <a:latin typeface="Montserrat"/>
              </a:rPr>
              <a:t>2021</a:t>
            </a:r>
          </a:p>
        </p:txBody>
      </p:sp>
      <p:sp>
        <p:nvSpPr>
          <p:cNvPr id="10" name="Rounded Rectangle 9"/>
          <p:cNvSpPr/>
          <p:nvPr/>
        </p:nvSpPr>
        <p:spPr>
          <a:xfrm>
            <a:off x="1841500" y="4876800"/>
            <a:ext cx="254000" cy="254000"/>
          </a:xfrm>
          <a:prstGeom prst="roundRect">
            <a:avLst>
              <a:gd name="adj" fmla="val 40000"/>
            </a:avLst>
          </a:prstGeom>
          <a:solidFill>
            <a:srgbClr val="1E4CD9"/>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p>
        </p:txBody>
      </p:sp>
      <p:sp>
        <p:nvSpPr>
          <p:cNvPr id="11" name="TextBox 10"/>
          <p:cNvSpPr txBox="1"/>
          <p:nvPr/>
        </p:nvSpPr>
        <p:spPr>
          <a:xfrm>
            <a:off x="7835900" y="3390900"/>
            <a:ext cx="7340600" cy="1651000"/>
          </a:xfrm>
          <a:prstGeom prst="rect">
            <a:avLst/>
          </a:prstGeom>
          <a:noFill/>
        </p:spPr>
        <p:txBody>
          <a:bodyPr wrap="square" lIns="0" rIns="0" tIns="0" bIns="0">
            <a:spAutoFit/>
          </a:bodyPr>
          <a:lstStyle/>
          <a:p>
            <a:pPr>
              <a:lnSpc>
                <a:spcPct val="133000"/>
              </a:lnSpc>
              <a:defRPr i="0" sz="1600" b="0">
                <a:solidFill>
                  <a:srgbClr val="2563EB"/>
                </a:solidFill>
                <a:latin typeface="Montserrat"/>
              </a:defRPr>
            </a:pPr>
            <a:r>
              <a:rPr i="0" sz="1600" b="0">
                <a:solidFill>
                  <a:srgbClr val="2563EB"/>
                </a:solidFill>
                <a:latin typeface="Montserrat"/>
              </a:rPr>
              <a:t>Epstein's case exposed profound systemic failures within the justice system and highlighted victim vulnerabilities. His death in custody sparked numerous conspiracy theories. Civil lawsuits continue, with substantial settlements for victims, leaving critical questions about his network unanswered.</a:t>
            </a:r>
          </a:p>
        </p:txBody>
      </p:sp>
      <p:sp>
        <p:nvSpPr>
          <p:cNvPr id="12" name="Rounded Rectangle 11"/>
          <p:cNvSpPr/>
          <p:nvPr/>
        </p:nvSpPr>
        <p:spPr>
          <a:xfrm>
            <a:off x="0" y="9093200"/>
            <a:ext cx="16256000" cy="50800"/>
          </a:xfrm>
          <a:prstGeom prst="roundRect">
            <a:avLst>
              <a:gd name="adj" fmla="val 100000"/>
            </a:avLst>
          </a:prstGeom>
          <a:solidFill>
            <a:srgbClr val="2563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