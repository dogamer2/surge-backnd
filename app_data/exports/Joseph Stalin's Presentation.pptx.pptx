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Joseph Stalin and Adolf Hitler, leaders of ideologically opposed regimes, forged a complex and ultimately treacherous relationship. Their initial interactions were marked by deep suspicion and strategic maneuvering, setting the stage for major conflicts and shaping the course of World War II.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Molotov-Ribbentrop Pact was a non-aggression treaty signed on August 23, 1939, between Nazi Germany and the Soviet Union. Its existence shocked the international community, especially given the ideological opposition between the two regimes. The pact also contained secret protocols that detailed the division of Central and Eastern European territories into German and Soviet spheres of influence, fundamentally altering the geopolitical landscape on the eve of World War II. It was a strategic, temporary alliance driven by mutual interests rather than shared ideology.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Stalin viewed the non-aggression pact as a temporary but necessary measure. His primary aim was to gain valuable time for the Soviet military to modernize and rearm, anticipating an eventual conflict with Nazi Germany. Additionally, the pact's secret protocols presented a unique opportunity for significant territorial gains in Eastern Europe, reinforcing Soviet borders and expanding influence. These strategic benefits were paramount to his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Hitler's strategic motivations for the Molotov-Ribbentrop Pact were primarily to avoid a costly two-front war. By neutralizing the Soviet threat in the east, Germany could dedicate its full military might to invading Poland and then focusing on Western Europe without immediate Soviet intervention. Hitler considered the pact a temporary measure, a tactical pause before eventually pursuing his long-term expansionist goals eastward. This allowed him to consolidate power and resources before his ultimate betrayal.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Molotov-Ribbentrop Pact, signed just weeks before, laid the groundwork for this devastating event. On September 1, 1939, Germany invaded Poland from the west, followed by the Soviet Union from the east on September 17. This coordinated invasion and subsequent division of Polish territory between the two powers officially ignited World War II in Europe, shattering peace and initiating a period of immense global conflict and suffering.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the Molotov-Ribbentrop Pact, specifically between August 1939 and June 1941, the Soviet Union provided significant raw materials to Nazi Germany. These included crucial resources such as oil, grain, and various minerals. This economic support was instrumental in sustaining Germany's military efforts and its rapid territorial expansion across Western Europe. The supplies allowed Germany to circumvent blockades and maintain its industrial output for the war.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Hitler's strategic goals for conquering Soviet territories remained, even after the non-aggression pact. Germany's substantial troop build-up along the Soviet border created immense tension, clear signs of an impending invasion. Despite numerous intelligence warnings, Stalin reportedly dismissed them, believing they were British provocations. This critical misjudgment set the stage for a devastating conflict.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June 22, 1941, Germany initiated Operation Barbarossa, a large-scale invasion of the Soviet Union. This act of aggression shattered the Molotov-Ribbentrop Pact, a non-aggression agreement previously signed between the two powers. The Soviet Union's forced entry into the Allied camp profoundly reshaped the strategic landscape of World War II, marking a critical turning point and exposing the opportunistic foundation of the earlier pact.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6416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875ce8a6-7e33-4a3f-a735-3fbb0b6734f8.png"/>
          <p:cNvPicPr>
            <a:picLocks noChangeAspect="1"/>
          </p:cNvPicPr>
          <p:nvPr/>
        </p:nvPicPr>
        <p:blipFill>
          <a:blip r:embed="rId3"/>
          <a:stretch>
            <a:fillRect/>
          </a:stretch>
        </p:blipFill>
        <p:spPr>
          <a:xfrm>
            <a:off x="1117600" y="2641600"/>
            <a:ext cx="6502400" cy="4064000"/>
          </a:xfrm>
          <a:prstGeom prst="rect">
            <a:avLst/>
          </a:prstGeom>
        </p:spPr>
      </p:pic>
      <p:sp>
        <p:nvSpPr>
          <p:cNvPr id="4" name="TextBox 3"/>
          <p:cNvSpPr txBox="1"/>
          <p:nvPr/>
        </p:nvSpPr>
        <p:spPr>
          <a:xfrm>
            <a:off x="8534400" y="1866900"/>
            <a:ext cx="6731000" cy="2286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Stalin &amp; Hitler: Treacherous Alliance</a:t>
            </a:r>
          </a:p>
        </p:txBody>
      </p:sp>
      <p:sp>
        <p:nvSpPr>
          <p:cNvPr id="5" name="Rounded Rectangle 4"/>
          <p:cNvSpPr/>
          <p:nvPr/>
        </p:nvSpPr>
        <p:spPr>
          <a:xfrm>
            <a:off x="8534400" y="44577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4813300"/>
            <a:ext cx="6731000" cy="1066800"/>
          </a:xfrm>
          <a:prstGeom prst="rect">
            <a:avLst/>
          </a:prstGeom>
          <a:noFill/>
        </p:spPr>
        <p:txBody>
          <a:bodyPr wrap="square" lIns="0" rIns="0" tIns="0" bIns="0">
            <a:spAutoFit/>
          </a:bodyPr>
          <a:lstStyle/>
          <a:p>
            <a:pPr algn="l">
              <a:lnSpc>
                <a:spcPct val="126000"/>
              </a:lnSpc>
              <a:defRPr i="0" sz="1800" b="0">
                <a:solidFill>
                  <a:srgbClr val="4B5563"/>
                </a:solidFill>
                <a:latin typeface="Inter"/>
              </a:defRPr>
            </a:pPr>
            <a:r>
              <a:rPr i="0" sz="1800" b="0">
                <a:solidFill>
                  <a:srgbClr val="4B5563"/>
                </a:solidFill>
                <a:latin typeface="Inter"/>
              </a:rPr>
              <a:t>Stalin and Hitler, ideologically opposed leaders, forged a complex, treacherous relationship that profoundly shaped World War II. Initial interactions involved suspicion.</a:t>
            </a:r>
          </a:p>
        </p:txBody>
      </p:sp>
      <p:sp>
        <p:nvSpPr>
          <p:cNvPr id="7" name="Rounded Rectangle 6"/>
          <p:cNvSpPr/>
          <p:nvPr/>
        </p:nvSpPr>
        <p:spPr>
          <a:xfrm>
            <a:off x="8534400" y="6184900"/>
            <a:ext cx="6705600" cy="1295400"/>
          </a:xfrm>
          <a:prstGeom prst="roundRect">
            <a:avLst>
              <a:gd name="adj" fmla="val 7843"/>
            </a:avLst>
          </a:prstGeom>
          <a:solidFill>
            <a:srgbClr val="FFFFFF">
              <a:alpha val="50000"/>
            </a:srgbClr>
          </a:solidFill>
          <a:ln w="12700">
            <a:solidFill>
              <a:srgbClr val="E5E7EB"/>
            </a:solidFill>
          </a:ln>
          <a:effectLst>
            <a:outerShdw blurRad="25400" dir="5400000" dist="12700" rotWithShape="0">
              <a:srgbClr val="000000">
                <a:alpha val="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8851900" y="6527800"/>
            <a:ext cx="609600" cy="6096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8940800" y="6680200"/>
            <a:ext cx="457200" cy="304800"/>
          </a:xfrm>
          <a:prstGeom prst="rect">
            <a:avLst/>
          </a:prstGeom>
          <a:noFill/>
        </p:spPr>
        <p:txBody>
          <a:bodyPr wrap="square" lIns="0" rIns="0" tIns="0" bIns="0">
            <a:spAutoFit/>
          </a:bodyPr>
          <a:lstStyle/>
          <a:p>
            <a:pPr algn="l">
              <a:defRPr i="0" sz="1600" b="1">
                <a:solidFill>
                  <a:srgbClr val="FFFFFF"/>
                </a:solidFill>
                <a:latin typeface="Inter"/>
              </a:defRPr>
            </a:pPr>
            <a:r>
              <a:rPr i="0" sz="1600" b="1">
                <a:solidFill>
                  <a:srgbClr val="FFFFFF"/>
                </a:solidFill>
                <a:latin typeface="Inter"/>
              </a:rPr>
              <a:t>DEV</a:t>
            </a:r>
          </a:p>
        </p:txBody>
      </p:sp>
      <p:sp>
        <p:nvSpPr>
          <p:cNvPr id="10" name="TextBox 9"/>
          <p:cNvSpPr txBox="1"/>
          <p:nvPr/>
        </p:nvSpPr>
        <p:spPr>
          <a:xfrm>
            <a:off x="9664700" y="6502400"/>
            <a:ext cx="19939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Dr. Eleanor Vance</a:t>
            </a:r>
          </a:p>
        </p:txBody>
      </p:sp>
      <p:sp>
        <p:nvSpPr>
          <p:cNvPr id="11" name="TextBox 10"/>
          <p:cNvSpPr txBox="1"/>
          <p:nvPr/>
        </p:nvSpPr>
        <p:spPr>
          <a:xfrm>
            <a:off x="9664700" y="6858000"/>
            <a:ext cx="1993900" cy="3048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February 11,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52b2ea57-a04a-40eb-a104-56485ac8dad8.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2743200"/>
            <a:ext cx="6731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Molotov-Ribbentrop Pact</a:t>
            </a:r>
          </a:p>
        </p:txBody>
      </p:sp>
      <p:sp>
        <p:nvSpPr>
          <p:cNvPr id="5" name="Rounded Rectangle 4"/>
          <p:cNvSpPr/>
          <p:nvPr/>
        </p:nvSpPr>
        <p:spPr>
          <a:xfrm>
            <a:off x="8534400" y="45720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4927600"/>
            <a:ext cx="6731000" cy="1066800"/>
          </a:xfrm>
          <a:prstGeom prst="rect">
            <a:avLst/>
          </a:prstGeom>
          <a:noFill/>
        </p:spPr>
        <p:txBody>
          <a:bodyPr wrap="square" lIns="0" rIns="0" tIns="0" bIns="0">
            <a:spAutoFit/>
          </a:bodyPr>
          <a:lstStyle/>
          <a:p>
            <a:pPr algn="l">
              <a:lnSpc>
                <a:spcPct val="126000"/>
              </a:lnSpc>
              <a:defRPr i="0" sz="1800" b="0">
                <a:solidFill>
                  <a:srgbClr val="4B5563"/>
                </a:solidFill>
                <a:latin typeface="Inter"/>
              </a:defRPr>
            </a:pPr>
            <a:r>
              <a:rPr i="0" sz="1800" b="0">
                <a:solidFill>
                  <a:srgbClr val="4B5563"/>
                </a:solidFill>
                <a:latin typeface="Inter"/>
              </a:rPr>
              <a:t>Signed on August 23, 1939, this non-aggression treaty between Nazi Germany and the Soviet Union shocked the world. It included secret protocols dividing Eastern European territories.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97790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Stalin's Strategic Rationale</a:t>
            </a:r>
          </a:p>
        </p:txBody>
      </p:sp>
      <p:sp>
        <p:nvSpPr>
          <p:cNvPr id="3" name="Rounded Rectangle 2"/>
          <p:cNvSpPr/>
          <p:nvPr/>
        </p:nvSpPr>
        <p:spPr>
          <a:xfrm>
            <a:off x="1016000" y="1574800"/>
            <a:ext cx="12192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4" name="Picture 3" descr="59b78bae-562d-4fd4-99be-062c62f866c3.png"/>
          <p:cNvPicPr>
            <a:picLocks noChangeAspect="1"/>
          </p:cNvPicPr>
          <p:nvPr/>
        </p:nvPicPr>
        <p:blipFill>
          <a:blip r:embed="rId3"/>
          <a:stretch>
            <a:fillRect/>
          </a:stretch>
        </p:blipFill>
        <p:spPr>
          <a:xfrm>
            <a:off x="11176000" y="609600"/>
            <a:ext cx="4064000" cy="2438400"/>
          </a:xfrm>
          <a:prstGeom prst="rect">
            <a:avLst/>
          </a:prstGeom>
        </p:spPr>
      </p:pic>
      <p:sp>
        <p:nvSpPr>
          <p:cNvPr id="5" name="TextBox 4"/>
          <p:cNvSpPr txBox="1"/>
          <p:nvPr/>
        </p:nvSpPr>
        <p:spPr>
          <a:xfrm>
            <a:off x="1016000" y="34544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01</a:t>
            </a:r>
          </a:p>
        </p:txBody>
      </p:sp>
      <p:sp>
        <p:nvSpPr>
          <p:cNvPr id="6" name="TextBox 5"/>
          <p:cNvSpPr txBox="1"/>
          <p:nvPr/>
        </p:nvSpPr>
        <p:spPr>
          <a:xfrm>
            <a:off x="1828800" y="35560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Military Modernization</a:t>
            </a:r>
          </a:p>
        </p:txBody>
      </p:sp>
      <p:sp>
        <p:nvSpPr>
          <p:cNvPr id="7" name="TextBox 6"/>
          <p:cNvSpPr txBox="1"/>
          <p:nvPr/>
        </p:nvSpPr>
        <p:spPr>
          <a:xfrm>
            <a:off x="1828800" y="4114800"/>
            <a:ext cx="61214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The pact provided a crucial period for the Soviet Union to enhance its military capabilities and prepare for future confrontation with Germany.</a:t>
            </a:r>
          </a:p>
        </p:txBody>
      </p:sp>
      <p:sp>
        <p:nvSpPr>
          <p:cNvPr id="8" name="TextBox 7"/>
          <p:cNvSpPr txBox="1"/>
          <p:nvPr/>
        </p:nvSpPr>
        <p:spPr>
          <a:xfrm>
            <a:off x="8331200" y="34544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02</a:t>
            </a:r>
          </a:p>
        </p:txBody>
      </p:sp>
      <p:sp>
        <p:nvSpPr>
          <p:cNvPr id="9" name="TextBox 8"/>
          <p:cNvSpPr txBox="1"/>
          <p:nvPr/>
        </p:nvSpPr>
        <p:spPr>
          <a:xfrm>
            <a:off x="9144000" y="35560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Territorial Expansion</a:t>
            </a:r>
          </a:p>
        </p:txBody>
      </p:sp>
      <p:sp>
        <p:nvSpPr>
          <p:cNvPr id="10" name="TextBox 9"/>
          <p:cNvSpPr txBox="1"/>
          <p:nvPr/>
        </p:nvSpPr>
        <p:spPr>
          <a:xfrm>
            <a:off x="9144000" y="4114800"/>
            <a:ext cx="6121400" cy="990600"/>
          </a:xfrm>
          <a:prstGeom prst="rect">
            <a:avLst/>
          </a:prstGeom>
          <a:noFill/>
        </p:spPr>
        <p:txBody>
          <a:bodyPr wrap="square" lIns="0" rIns="0" tIns="0" bIns="0">
            <a:spAutoFit/>
          </a:bodyPr>
          <a:lstStyle/>
          <a:p>
            <a:pPr algn="l">
              <a:lnSpc>
                <a:spcPct val="133000"/>
              </a:lnSpc>
              <a:defRPr i="0" sz="1600" b="0">
                <a:solidFill>
                  <a:srgbClr val="4B5563"/>
                </a:solidFill>
                <a:latin typeface="Inter"/>
              </a:defRPr>
            </a:pPr>
            <a:r>
              <a:rPr i="0" sz="1600" b="0">
                <a:solidFill>
                  <a:srgbClr val="4B5563"/>
                </a:solidFill>
                <a:latin typeface="Inter"/>
              </a:rPr>
              <a:t>The secret protocols allowed the USSR to annex parts of Eastern Poland, the Baltic states, and exert influence over Finland, expanding its western frontier.</a:t>
            </a:r>
          </a:p>
        </p:txBody>
      </p:sp>
      <p:pic>
        <p:nvPicPr>
          <p:cNvPr id="11" name="Picture 10" descr="2dc47eee-bc11-4f3d-b314-56499bddbbbe.png"/>
          <p:cNvPicPr>
            <a:picLocks noChangeAspect="1"/>
          </p:cNvPicPr>
          <p:nvPr/>
        </p:nvPicPr>
        <p:blipFill>
          <a:blip r:embed="rId4"/>
          <a:stretch>
            <a:fillRect/>
          </a:stretch>
        </p:blipFill>
        <p:spPr>
          <a:xfrm>
            <a:off x="0" y="8128000"/>
            <a:ext cx="16256000" cy="1016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Hitler's Motives for the Pact</a:t>
            </a:r>
          </a:p>
        </p:txBody>
      </p:sp>
      <p:pic>
        <p:nvPicPr>
          <p:cNvPr id="3" name="Picture 2" descr="ad1c6b2a-9f85-4756-b101-914c7d0559c2.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3c17b55f-4b9d-4885-9059-3b1393a006b8.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3238500"/>
            <a:ext cx="6731000" cy="7493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Hitler's primary motivation for the Molotov-Ribbentrop Pact was to secure Germany's eastern flank, preventing a devastating two-front war.</a:t>
            </a:r>
          </a:p>
        </p:txBody>
      </p:sp>
      <p:sp>
        <p:nvSpPr>
          <p:cNvPr id="6" name="Rounded Rectangle 5"/>
          <p:cNvSpPr/>
          <p:nvPr/>
        </p:nvSpPr>
        <p:spPr>
          <a:xfrm>
            <a:off x="8534400" y="43815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9171cca2-4dc0-4674-9a5a-9754bc91990f.png"/>
          <p:cNvPicPr>
            <a:picLocks noChangeAspect="1"/>
          </p:cNvPicPr>
          <p:nvPr/>
        </p:nvPicPr>
        <p:blipFill>
          <a:blip r:embed="rId5"/>
          <a:stretch>
            <a:fillRect/>
          </a:stretch>
        </p:blipFill>
        <p:spPr>
          <a:xfrm>
            <a:off x="8686800" y="4546600"/>
            <a:ext cx="304800" cy="304800"/>
          </a:xfrm>
          <a:prstGeom prst="rect">
            <a:avLst/>
          </a:prstGeom>
        </p:spPr>
      </p:pic>
      <p:sp>
        <p:nvSpPr>
          <p:cNvPr id="8" name="TextBox 7"/>
          <p:cNvSpPr txBox="1"/>
          <p:nvPr/>
        </p:nvSpPr>
        <p:spPr>
          <a:xfrm>
            <a:off x="9347200" y="43815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Focus Military Efforts</a:t>
            </a:r>
          </a:p>
        </p:txBody>
      </p:sp>
      <p:sp>
        <p:nvSpPr>
          <p:cNvPr id="9" name="Rounded Rectangle 8"/>
          <p:cNvSpPr/>
          <p:nvPr/>
        </p:nvSpPr>
        <p:spPr>
          <a:xfrm>
            <a:off x="9347200" y="48387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50165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The pact enabled Germany to concentrate its forces on the invasion of Poland and subsequent campaigns in Western Europe.</a:t>
            </a:r>
          </a:p>
        </p:txBody>
      </p:sp>
      <p:sp>
        <p:nvSpPr>
          <p:cNvPr id="11" name="Rounded Rectangle 10"/>
          <p:cNvSpPr/>
          <p:nvPr/>
        </p:nvSpPr>
        <p:spPr>
          <a:xfrm>
            <a:off x="8534400" y="59817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2e766189-dd1a-4ab0-b70b-f0a3915577c8.png"/>
          <p:cNvPicPr>
            <a:picLocks noChangeAspect="1"/>
          </p:cNvPicPr>
          <p:nvPr/>
        </p:nvPicPr>
        <p:blipFill>
          <a:blip r:embed="rId6"/>
          <a:stretch>
            <a:fillRect/>
          </a:stretch>
        </p:blipFill>
        <p:spPr>
          <a:xfrm>
            <a:off x="8686800" y="6146800"/>
            <a:ext cx="304800" cy="304800"/>
          </a:xfrm>
          <a:prstGeom prst="rect">
            <a:avLst/>
          </a:prstGeom>
        </p:spPr>
      </p:pic>
      <p:sp>
        <p:nvSpPr>
          <p:cNvPr id="13" name="TextBox 12"/>
          <p:cNvSpPr txBox="1"/>
          <p:nvPr/>
        </p:nvSpPr>
        <p:spPr>
          <a:xfrm>
            <a:off x="9347200" y="59817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Temporary Alliance</a:t>
            </a:r>
          </a:p>
        </p:txBody>
      </p:sp>
      <p:sp>
        <p:nvSpPr>
          <p:cNvPr id="14" name="Rounded Rectangle 13"/>
          <p:cNvSpPr/>
          <p:nvPr/>
        </p:nvSpPr>
        <p:spPr>
          <a:xfrm>
            <a:off x="9347200" y="64389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66167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Hitler viewed the non-aggression pact as a strategic, short-term measure to buy time for future expansion eastward.</a:t>
            </a:r>
          </a:p>
        </p:txBody>
      </p:sp>
      <p:sp>
        <p:nvSpPr>
          <p:cNvPr id="16" name="Rounded Rectangle 15"/>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849dc477-9174-4c0d-9c37-3853060b8cce.png"/>
          <p:cNvPicPr>
            <a:picLocks noChangeAspect="1"/>
          </p:cNvPicPr>
          <p:nvPr/>
        </p:nvPicPr>
        <p:blipFill>
          <a:blip r:embed="rId7"/>
          <a:stretch>
            <a:fillRect/>
          </a:stretch>
        </p:blipFill>
        <p:spPr>
          <a:xfrm>
            <a:off x="1524000" y="3225800"/>
            <a:ext cx="5689600" cy="4064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b30a3356-ffb7-4d02-a802-43c84599b72c.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2565400"/>
            <a:ext cx="6731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Poland's Invasion and Division</a:t>
            </a:r>
          </a:p>
        </p:txBody>
      </p:sp>
      <p:sp>
        <p:nvSpPr>
          <p:cNvPr id="5" name="Rounded Rectangle 4"/>
          <p:cNvSpPr/>
          <p:nvPr/>
        </p:nvSpPr>
        <p:spPr>
          <a:xfrm>
            <a:off x="8534400" y="43942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4749800"/>
            <a:ext cx="6731000" cy="1422400"/>
          </a:xfrm>
          <a:prstGeom prst="rect">
            <a:avLst/>
          </a:prstGeom>
          <a:noFill/>
        </p:spPr>
        <p:txBody>
          <a:bodyPr wrap="square" lIns="0" rIns="0" tIns="0" bIns="0">
            <a:spAutoFit/>
          </a:bodyPr>
          <a:lstStyle/>
          <a:p>
            <a:pPr algn="l">
              <a:lnSpc>
                <a:spcPct val="126000"/>
              </a:lnSpc>
              <a:defRPr i="0" sz="1800" b="0">
                <a:solidFill>
                  <a:srgbClr val="4B5563"/>
                </a:solidFill>
                <a:latin typeface="Inter"/>
              </a:defRPr>
            </a:pPr>
            <a:r>
              <a:rPr i="0" sz="1800" b="0">
                <a:solidFill>
                  <a:srgbClr val="4B5563"/>
                </a:solidFill>
                <a:latin typeface="Inter"/>
              </a:rPr>
              <a:t>The immediate consequence was the joint invasion and division of Poland in September 1939. Soviet forces occupied the east, and Germany took the west, marking the official start of World War II in Europe.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47356521-15a3-4d13-9024-4ede08fc843b.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2362200"/>
            <a:ext cx="6731000" cy="2286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Economic Exchange under the Pact</a:t>
            </a:r>
          </a:p>
        </p:txBody>
      </p:sp>
      <p:sp>
        <p:nvSpPr>
          <p:cNvPr id="5" name="Rounded Rectangle 4"/>
          <p:cNvSpPr/>
          <p:nvPr/>
        </p:nvSpPr>
        <p:spPr>
          <a:xfrm>
            <a:off x="8534400" y="49530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5308600"/>
            <a:ext cx="6731000" cy="1066800"/>
          </a:xfrm>
          <a:prstGeom prst="rect">
            <a:avLst/>
          </a:prstGeom>
          <a:noFill/>
        </p:spPr>
        <p:txBody>
          <a:bodyPr wrap="square" lIns="0" rIns="0" tIns="0" bIns="0">
            <a:spAutoFit/>
          </a:bodyPr>
          <a:lstStyle/>
          <a:p>
            <a:pPr algn="l">
              <a:lnSpc>
                <a:spcPct val="126000"/>
              </a:lnSpc>
              <a:defRPr i="0" sz="1800" b="0">
                <a:solidFill>
                  <a:srgbClr val="4B5563"/>
                </a:solidFill>
                <a:latin typeface="Inter"/>
              </a:defRPr>
            </a:pPr>
            <a:r>
              <a:rPr i="0" sz="1800" b="0">
                <a:solidFill>
                  <a:srgbClr val="4B5563"/>
                </a:solidFill>
                <a:latin typeface="Inter"/>
              </a:rPr>
              <a:t>From 1939-1941, the Soviet Union supplied </a:t>
            </a:r>
            <a:r>
              <a:rPr i="1" sz="1800" b="0">
                <a:solidFill>
                  <a:srgbClr val="4B5563"/>
                </a:solidFill>
                <a:latin typeface="Inter"/>
              </a:rPr>
              <a:t>oil</a:t>
            </a:r>
            <a:r>
              <a:rPr i="0" sz="1800" b="0">
                <a:solidFill>
                  <a:srgbClr val="4B5563"/>
                </a:solidFill>
                <a:latin typeface="Inter"/>
              </a:rPr>
              <a:t>, </a:t>
            </a:r>
            <a:r>
              <a:rPr i="1" sz="1800" b="0">
                <a:solidFill>
                  <a:srgbClr val="4B5563"/>
                </a:solidFill>
                <a:latin typeface="Inter"/>
              </a:rPr>
              <a:t>grain</a:t>
            </a:r>
            <a:r>
              <a:rPr i="0" sz="1800" b="0">
                <a:solidFill>
                  <a:srgbClr val="4B5563"/>
                </a:solidFill>
                <a:latin typeface="Inter"/>
              </a:rPr>
              <a:t>, and </a:t>
            </a:r>
            <a:r>
              <a:rPr i="1" sz="1800" b="0">
                <a:solidFill>
                  <a:srgbClr val="4B5563"/>
                </a:solidFill>
                <a:latin typeface="Inter"/>
              </a:rPr>
              <a:t>minerals</a:t>
            </a:r>
            <a:r>
              <a:rPr i="0" sz="1800" b="0">
                <a:solidFill>
                  <a:srgbClr val="4B5563"/>
                </a:solidFill>
                <a:latin typeface="Inter"/>
              </a:rPr>
              <a:t> to Nazi Germany. This vital economic exchange fueled Germany's war machine, enabling its conquest of Western Europe.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9779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Hitler's Secret Plans: Soviet Border</a:t>
            </a:r>
          </a:p>
        </p:txBody>
      </p:sp>
      <p:sp>
        <p:nvSpPr>
          <p:cNvPr id="3" name="Rounded Rectangle 2"/>
          <p:cNvSpPr/>
          <p:nvPr/>
        </p:nvSpPr>
        <p:spPr>
          <a:xfrm>
            <a:off x="1016000" y="2336800"/>
            <a:ext cx="12192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4" name="Picture 3" descr="eb2e80d1-a524-4773-94ee-a5ac6547070d.png"/>
          <p:cNvPicPr>
            <a:picLocks noChangeAspect="1"/>
          </p:cNvPicPr>
          <p:nvPr/>
        </p:nvPicPr>
        <p:blipFill>
          <a:blip r:embed="rId3"/>
          <a:stretch>
            <a:fillRect/>
          </a:stretch>
        </p:blipFill>
        <p:spPr>
          <a:xfrm>
            <a:off x="11176000" y="609600"/>
            <a:ext cx="4064000" cy="2438400"/>
          </a:xfrm>
          <a:prstGeom prst="rect">
            <a:avLst/>
          </a:prstGeom>
        </p:spPr>
      </p:pic>
      <p:sp>
        <p:nvSpPr>
          <p:cNvPr id="5" name="TextBox 4"/>
          <p:cNvSpPr txBox="1"/>
          <p:nvPr/>
        </p:nvSpPr>
        <p:spPr>
          <a:xfrm>
            <a:off x="1016000" y="34544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01</a:t>
            </a:r>
          </a:p>
        </p:txBody>
      </p:sp>
      <p:sp>
        <p:nvSpPr>
          <p:cNvPr id="6" name="TextBox 5"/>
          <p:cNvSpPr txBox="1"/>
          <p:nvPr/>
        </p:nvSpPr>
        <p:spPr>
          <a:xfrm>
            <a:off x="1828800" y="35560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Conquest Plans Maintained</a:t>
            </a:r>
          </a:p>
        </p:txBody>
      </p:sp>
      <p:sp>
        <p:nvSpPr>
          <p:cNvPr id="7" name="TextBox 6"/>
          <p:cNvSpPr txBox="1"/>
          <p:nvPr/>
        </p:nvSpPr>
        <p:spPr>
          <a:xfrm>
            <a:off x="1828800" y="4114800"/>
            <a:ext cx="61214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Hitler harbored long-term plans for conquering </a:t>
            </a:r>
            <a:r>
              <a:rPr i="1" sz="1600" b="0">
                <a:solidFill>
                  <a:srgbClr val="4B5563"/>
                </a:solidFill>
                <a:latin typeface="Inter"/>
              </a:rPr>
              <a:t>Soviet territories</a:t>
            </a:r>
            <a:r>
              <a:rPr i="0" sz="1600" b="0">
                <a:solidFill>
                  <a:srgbClr val="4B5563"/>
                </a:solidFill>
                <a:latin typeface="Inter"/>
              </a:rPr>
              <a:t> even after signing the non-aggression pact, a clear act of deception.</a:t>
            </a:r>
          </a:p>
        </p:txBody>
      </p:sp>
      <p:sp>
        <p:nvSpPr>
          <p:cNvPr id="8" name="TextBox 7"/>
          <p:cNvSpPr txBox="1"/>
          <p:nvPr/>
        </p:nvSpPr>
        <p:spPr>
          <a:xfrm>
            <a:off x="8331200" y="34544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02</a:t>
            </a:r>
          </a:p>
        </p:txBody>
      </p:sp>
      <p:sp>
        <p:nvSpPr>
          <p:cNvPr id="9" name="TextBox 8"/>
          <p:cNvSpPr txBox="1"/>
          <p:nvPr/>
        </p:nvSpPr>
        <p:spPr>
          <a:xfrm>
            <a:off x="9144000" y="35560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Troop Build-up on Border</a:t>
            </a:r>
          </a:p>
        </p:txBody>
      </p:sp>
      <p:sp>
        <p:nvSpPr>
          <p:cNvPr id="10" name="TextBox 9"/>
          <p:cNvSpPr txBox="1"/>
          <p:nvPr/>
        </p:nvSpPr>
        <p:spPr>
          <a:xfrm>
            <a:off x="9144000" y="4114800"/>
            <a:ext cx="61214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Germany began to mass troops along the Soviet border, intensifying the geopolitical landscape and signaling impending conflict.</a:t>
            </a:r>
          </a:p>
        </p:txBody>
      </p:sp>
      <p:sp>
        <p:nvSpPr>
          <p:cNvPr id="11" name="TextBox 10"/>
          <p:cNvSpPr txBox="1"/>
          <p:nvPr/>
        </p:nvSpPr>
        <p:spPr>
          <a:xfrm>
            <a:off x="1016000" y="51816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03</a:t>
            </a:r>
          </a:p>
        </p:txBody>
      </p:sp>
      <p:sp>
        <p:nvSpPr>
          <p:cNvPr id="12" name="TextBox 11"/>
          <p:cNvSpPr txBox="1"/>
          <p:nvPr/>
        </p:nvSpPr>
        <p:spPr>
          <a:xfrm>
            <a:off x="1828800" y="52832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Stalin's Dismissal of Warnings</a:t>
            </a:r>
          </a:p>
        </p:txBody>
      </p:sp>
      <p:sp>
        <p:nvSpPr>
          <p:cNvPr id="13" name="TextBox 12"/>
          <p:cNvSpPr txBox="1"/>
          <p:nvPr/>
        </p:nvSpPr>
        <p:spPr>
          <a:xfrm>
            <a:off x="1828800" y="5842000"/>
            <a:ext cx="61214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Stalin reportedly dismissed numerous intelligence warnings about an impending German invasion, failing to adequately prepare for the assault.</a:t>
            </a:r>
          </a:p>
        </p:txBody>
      </p:sp>
      <p:pic>
        <p:nvPicPr>
          <p:cNvPr id="14" name="Picture 13" descr="2dc47eee-bc11-4f3d-b314-56499bddbbbe.png"/>
          <p:cNvPicPr>
            <a:picLocks noChangeAspect="1"/>
          </p:cNvPicPr>
          <p:nvPr/>
        </p:nvPicPr>
        <p:blipFill>
          <a:blip r:embed="rId4"/>
          <a:stretch>
            <a:fillRect/>
          </a:stretch>
        </p:blipFill>
        <p:spPr>
          <a:xfrm>
            <a:off x="0" y="8128000"/>
            <a:ext cx="16256000" cy="1016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eb816c9c-c113-4428-a9dc-cedcea92073f.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2184400"/>
            <a:ext cx="6731000" cy="2286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Operation Barbarossa: Pact Broken</a:t>
            </a:r>
          </a:p>
        </p:txBody>
      </p:sp>
      <p:sp>
        <p:nvSpPr>
          <p:cNvPr id="5" name="Rounded Rectangle 4"/>
          <p:cNvSpPr/>
          <p:nvPr/>
        </p:nvSpPr>
        <p:spPr>
          <a:xfrm>
            <a:off x="8534400" y="47752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5130800"/>
            <a:ext cx="6731000" cy="1422400"/>
          </a:xfrm>
          <a:prstGeom prst="rect">
            <a:avLst/>
          </a:prstGeom>
          <a:noFill/>
        </p:spPr>
        <p:txBody>
          <a:bodyPr wrap="square" lIns="0" rIns="0" tIns="0" bIns="0">
            <a:spAutoFit/>
          </a:bodyPr>
          <a:lstStyle/>
          <a:p>
            <a:pPr algn="l">
              <a:lnSpc>
                <a:spcPct val="126000"/>
              </a:lnSpc>
              <a:defRPr i="0" sz="1800" b="0">
                <a:solidFill>
                  <a:srgbClr val="4B5563"/>
                </a:solidFill>
                <a:latin typeface="Inter"/>
              </a:defRPr>
            </a:pPr>
            <a:r>
              <a:rPr i="0" sz="1800" b="0">
                <a:solidFill>
                  <a:srgbClr val="4B5563"/>
                </a:solidFill>
                <a:latin typeface="Inter"/>
              </a:rPr>
              <a:t>Germany's </a:t>
            </a:r>
            <a:r>
              <a:rPr i="1" sz="1800" b="0">
                <a:solidFill>
                  <a:srgbClr val="4B5563"/>
                </a:solidFill>
                <a:latin typeface="Inter"/>
              </a:rPr>
              <a:t>Operation Barbarossa</a:t>
            </a:r>
            <a:r>
              <a:rPr i="0" sz="1800" b="0">
                <a:solidFill>
                  <a:srgbClr val="4B5563"/>
                </a:solidFill>
                <a:latin typeface="Inter"/>
              </a:rPr>
              <a:t> on June 22, 1941, violently ended the non-aggression pact. This invasion forced the USSR to join the Allies, drastically shifting WWII's trajectory and revealing the pact's cynical core.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