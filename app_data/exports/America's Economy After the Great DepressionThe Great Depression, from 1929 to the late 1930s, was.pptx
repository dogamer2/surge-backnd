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 by setting the stage with the Great Depression's severity and its global impact. Emphasize the shift from despair to prosperity in the U.S. economy. Highlight the presentation's focus on key policy changes and global events as the main drivers of this recovery, and mention the lasting impacts to be discussed.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FDR's New Deal (1933-1939) launched critical programs for relief, recovery, and reform during the Great Depression. It created jobs via public works, stabilized financial systems, and established social safety nets. This era expanded the federal government's economic role, laying essential groundwork for future stability and growth.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Deal, under FDR from 1933-1939, initiated key programs like the Civilian Conservation Corps and Public Works Administration to create jobs and infrastructure. The Agricultural Adjustment Act supported farmers, while bank reforms restored financial confidence. These policies significantly reduced unemployment from its 1933 peak and stabilized the financial system, laying crucial groundwork for economic recovery.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World War II acted as a powerful economic accelerator for the U.S. economy. Significant government investment in war production spurred industrial growth and created widespread employment opportunities. This led to a dramatic reduction in unemployment from 14.6% to a mere 1.2% by 1944. Concurrently, industrial output surged by 90%, showcasing the nation's immense productive capacity and effectively ending the lingering effects of the Great Depression.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Following World War II, the global economy, particularly in the Western world, entered a remarkable period of expansion. The G.I. Bill was instrumental in empowering veterans, facilitating homeownership and education. This spurred massive consumption, which in turn fueled industrial growth. This era solidified the middle class and established new standards of living, laying the foundation for modern consumer societies.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aftermath of the Great Depression and World War II, a new era of economic policy began. The Bretton Woods Agreement, a landmark accord in 1944, established the IMF and World Bank to stabilize global finance and support post-war reconstruction. Domestically, the G.I. Bill provided vital support to veterans, dramatically increasing human capital. These institutions and policies were pivotal in fostering long-term economic stability and development, both nationally and internationally, shaping the modern global economy.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enduring impacts of the period on American society and economy. We will discuss how federal power expanded in economic management and welfare, leading to programs like Social Security. We will also touch upon the increased financial regulation and the emergence of a mixed economy. These changes shaped the US for decades.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summarizes the transformative journey of the American economy from the Great Depression to post-war prosperity. It emphasizes the crucial role of government intervention during crises, the significant boost from wartime production, and the resulting period of remarkable economic growth. Conclude by highlighting how these historical events, particularly the New Deal and World War II policies, have left a lasting imprint on the current structure and social aspects of the U.S. economy, providing context for today's economic landscape.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344627b3-d70f-4016-9a1c-a4286f1bdab8.png"/>
          <p:cNvPicPr>
            <a:picLocks noChangeAspect="1"/>
          </p:cNvPicPr>
          <p:nvPr/>
        </p:nvPicPr>
        <p:blipFill>
          <a:blip r:embed="rId3"/>
          <a:stretch>
            <a:fillRect/>
          </a:stretch>
        </p:blipFill>
        <p:spPr>
          <a:xfrm>
            <a:off x="10401300" y="0"/>
            <a:ext cx="5854700" cy="6604000"/>
          </a:xfrm>
          <a:prstGeom prst="rect">
            <a:avLst/>
          </a:prstGeom>
        </p:spPr>
      </p:pic>
      <p:sp>
        <p:nvSpPr>
          <p:cNvPr id="3" name="Rounded Rectangle 2"/>
          <p:cNvSpPr/>
          <p:nvPr/>
        </p:nvSpPr>
        <p:spPr>
          <a:xfrm>
            <a:off x="9893300" y="3810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Rounded Rectangle 3"/>
          <p:cNvSpPr/>
          <p:nvPr/>
        </p:nvSpPr>
        <p:spPr>
          <a:xfrm>
            <a:off x="9893300" y="6858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a:off x="9893300" y="9906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9600" y="406400"/>
            <a:ext cx="8750300" cy="2565400"/>
          </a:xfrm>
          <a:prstGeom prst="rect">
            <a:avLst/>
          </a:prstGeom>
          <a:noFill/>
        </p:spPr>
        <p:txBody>
          <a:bodyPr wrap="square" lIns="0" rIns="0" tIns="0" bIns="0">
            <a:spAutoFit/>
          </a:bodyPr>
          <a:lstStyle/>
          <a:p>
            <a:pPr algn="l">
              <a:lnSpc>
                <a:spcPct val="75000"/>
              </a:lnSpc>
              <a:defRPr i="0" sz="6400" b="1">
                <a:solidFill>
                  <a:srgbClr val="111827"/>
                </a:solidFill>
                <a:latin typeface="Albert Sans"/>
              </a:defRPr>
            </a:pPr>
            <a:r>
              <a:rPr i="0" sz="6400" b="1">
                <a:solidFill>
                  <a:srgbClr val="111827"/>
                </a:solidFill>
                <a:latin typeface="Albert Sans"/>
              </a:rPr>
              <a:t>America's Economy After the Great Depression</a:t>
            </a:r>
          </a:p>
        </p:txBody>
      </p:sp>
      <p:sp>
        <p:nvSpPr>
          <p:cNvPr id="7" name="TextBox 6"/>
          <p:cNvSpPr txBox="1"/>
          <p:nvPr/>
        </p:nvSpPr>
        <p:spPr>
          <a:xfrm>
            <a:off x="609600" y="3225800"/>
            <a:ext cx="7899400" cy="977900"/>
          </a:xfrm>
          <a:prstGeom prst="rect">
            <a:avLst/>
          </a:prstGeom>
          <a:noFill/>
        </p:spPr>
        <p:txBody>
          <a:bodyPr wrap="square" lIns="0" rIns="0" tIns="0" bIns="0">
            <a:spAutoFit/>
          </a:bodyPr>
          <a:lstStyle/>
          <a:p>
            <a:pPr algn="l">
              <a:lnSpc>
                <a:spcPct val="130000"/>
              </a:lnSpc>
              <a:defRPr i="0" sz="1600" b="0">
                <a:solidFill>
                  <a:srgbClr val="6B7280"/>
                </a:solidFill>
                <a:latin typeface="Albert Sans"/>
              </a:defRPr>
            </a:pPr>
            <a:r>
              <a:rPr i="0" sz="1600" b="0">
                <a:solidFill>
                  <a:srgbClr val="6B7280"/>
                </a:solidFill>
                <a:latin typeface="Albert Sans"/>
              </a:rPr>
              <a:t>The Great Depression (1929-1930s) caused global economic despair. We analyze the U.S. economy's recovery from despair to prosperity, driven by key policy changes and global events. Examine its catalysts and lasting impacts.</a:t>
            </a:r>
          </a:p>
        </p:txBody>
      </p:sp>
      <p:sp>
        <p:nvSpPr>
          <p:cNvPr id="8" name="Rounded Rectangle 7"/>
          <p:cNvSpPr/>
          <p:nvPr/>
        </p:nvSpPr>
        <p:spPr>
          <a:xfrm>
            <a:off x="609600" y="4495800"/>
            <a:ext cx="3568700" cy="635000"/>
          </a:xfrm>
          <a:prstGeom prst="roundRect">
            <a:avLst>
              <a:gd name="adj" fmla="val 8000"/>
            </a:avLst>
          </a:prstGeom>
          <a:solidFill>
            <a:srgbClr val="BFF4FF"/>
          </a:solidFill>
          <a:ln w="12700">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ounded Rectangle 8"/>
          <p:cNvSpPr/>
          <p:nvPr/>
        </p:nvSpPr>
        <p:spPr>
          <a:xfrm>
            <a:off x="825500" y="4660900"/>
            <a:ext cx="101600" cy="304800"/>
          </a:xfrm>
          <a:prstGeom prst="roundRect">
            <a:avLst>
              <a:gd name="adj" fmla="val 5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130300" y="4660900"/>
            <a:ext cx="17145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Economic Analyst</a:t>
            </a:r>
          </a:p>
        </p:txBody>
      </p:sp>
      <p:sp>
        <p:nvSpPr>
          <p:cNvPr id="11" name="TextBox 10"/>
          <p:cNvSpPr txBox="1"/>
          <p:nvPr/>
        </p:nvSpPr>
        <p:spPr>
          <a:xfrm>
            <a:off x="2971800" y="4686300"/>
            <a:ext cx="10160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Feb 11, 2026</a:t>
            </a:r>
          </a:p>
        </p:txBody>
      </p:sp>
      <p:sp>
        <p:nvSpPr>
          <p:cNvPr id="12" name="TextBox 11"/>
          <p:cNvSpPr txBox="1"/>
          <p:nvPr/>
        </p:nvSpPr>
        <p:spPr>
          <a:xfrm>
            <a:off x="609600" y="8470900"/>
            <a:ext cx="17907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economic-history.org</a:t>
            </a:r>
          </a:p>
        </p:txBody>
      </p:sp>
      <p:sp>
        <p:nvSpPr>
          <p:cNvPr id="13" name="Rounded Rectangle 12"/>
          <p:cNvSpPr/>
          <p:nvPr/>
        </p:nvSpPr>
        <p:spPr>
          <a:xfrm>
            <a:off x="2679700" y="8597900"/>
            <a:ext cx="12966700" cy="25400"/>
          </a:xfrm>
          <a:prstGeom prst="roundRect">
            <a:avLst>
              <a:gd name="adj" fmla="val 2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ounded Rectangle 13"/>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152400"/>
            <a:ext cx="15062200" cy="673100"/>
          </a:xfrm>
          <a:prstGeom prst="rect">
            <a:avLst/>
          </a:prstGeom>
          <a:noFill/>
        </p:spPr>
        <p:txBody>
          <a:bodyPr wrap="square" lIns="0" rIns="0" tIns="0" bIns="0">
            <a:spAutoFit/>
          </a:bodyPr>
          <a:lstStyle/>
          <a:p>
            <a:pPr algn="l">
              <a:lnSpc>
                <a:spcPct val="80000"/>
              </a:lnSpc>
              <a:defRPr i="0" sz="4800" b="1">
                <a:solidFill>
                  <a:srgbClr val="111827"/>
                </a:solidFill>
                <a:latin typeface="Albert Sans"/>
              </a:defRPr>
            </a:pPr>
            <a:r>
              <a:rPr i="0" sz="4800" b="1">
                <a:solidFill>
                  <a:srgbClr val="111827"/>
                </a:solidFill>
                <a:latin typeface="Albert Sans"/>
              </a:rPr>
              <a:t>The New Deal's Impact</a:t>
            </a:r>
          </a:p>
        </p:txBody>
      </p:sp>
      <p:sp>
        <p:nvSpPr>
          <p:cNvPr id="3" name="TextBox 2"/>
          <p:cNvSpPr txBox="1"/>
          <p:nvPr/>
        </p:nvSpPr>
        <p:spPr>
          <a:xfrm>
            <a:off x="609600" y="1231900"/>
            <a:ext cx="609600" cy="609600"/>
          </a:xfrm>
          <a:prstGeom prst="rect">
            <a:avLst/>
          </a:prstGeom>
          <a:noFill/>
        </p:spPr>
        <p:txBody>
          <a:bodyPr wrap="square" lIns="0" rIns="0" tIns="0" bIns="0">
            <a:spAutoFit/>
          </a:bodyPr>
          <a:lstStyle/>
          <a:p>
            <a:pPr algn="l">
              <a:lnSpc>
                <a:spcPct val="70000"/>
              </a:lnSpc>
              <a:defRPr i="0" sz="4800" b="1">
                <a:solidFill>
                  <a:srgbClr val="BFF4FF"/>
                </a:solidFill>
                <a:latin typeface="Albert Sans"/>
              </a:defRPr>
            </a:pPr>
            <a:r>
              <a:rPr i="0" sz="4800" b="1">
                <a:solidFill>
                  <a:srgbClr val="BFF4FF"/>
                </a:solidFill>
                <a:latin typeface="Albert Sans"/>
              </a:rPr>
              <a:t>01</a:t>
            </a:r>
          </a:p>
        </p:txBody>
      </p:sp>
      <p:sp>
        <p:nvSpPr>
          <p:cNvPr id="4" name="TextBox 3"/>
          <p:cNvSpPr txBox="1"/>
          <p:nvPr/>
        </p:nvSpPr>
        <p:spPr>
          <a:xfrm>
            <a:off x="1498600" y="1282700"/>
            <a:ext cx="6324600" cy="330200"/>
          </a:xfrm>
          <a:prstGeom prst="rect">
            <a:avLst/>
          </a:prstGeom>
          <a:noFill/>
        </p:spPr>
        <p:txBody>
          <a:bodyPr wrap="square" lIns="0" rIns="0" tIns="0" bIns="0">
            <a:spAutoFit/>
          </a:bodyPr>
          <a:lstStyle/>
          <a:p>
            <a:pPr algn="l">
              <a:defRPr i="0" sz="2200" b="1">
                <a:solidFill>
                  <a:srgbClr val="111827"/>
                </a:solidFill>
                <a:latin typeface="Albert Sans"/>
              </a:defRPr>
            </a:pPr>
            <a:r>
              <a:rPr i="0" sz="2200" b="1">
                <a:solidFill>
                  <a:srgbClr val="111827"/>
                </a:solidFill>
                <a:latin typeface="Albert Sans"/>
              </a:rPr>
              <a:t>Foundations for Recovery</a:t>
            </a:r>
          </a:p>
        </p:txBody>
      </p:sp>
      <p:sp>
        <p:nvSpPr>
          <p:cNvPr id="5" name="TextBox 4"/>
          <p:cNvSpPr txBox="1"/>
          <p:nvPr/>
        </p:nvSpPr>
        <p:spPr>
          <a:xfrm>
            <a:off x="1498600" y="1714500"/>
            <a:ext cx="6324600" cy="2794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New Deal programs (1933-1939) established vital recovery efforts.</a:t>
            </a:r>
          </a:p>
        </p:txBody>
      </p:sp>
      <p:sp>
        <p:nvSpPr>
          <p:cNvPr id="6" name="Rounded Rectangle 5"/>
          <p:cNvSpPr/>
          <p:nvPr/>
        </p:nvSpPr>
        <p:spPr>
          <a:xfrm>
            <a:off x="609600" y="2209800"/>
            <a:ext cx="7188200" cy="12700"/>
          </a:xfrm>
          <a:prstGeom prst="roundRect">
            <a:avLst>
              <a:gd name="adj" fmla="val 400000"/>
            </a:avLst>
          </a:prstGeom>
          <a:solidFill>
            <a:srgbClr val="3B82F6">
              <a:alpha val="1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8407400" y="1231900"/>
            <a:ext cx="774700" cy="609600"/>
          </a:xfrm>
          <a:prstGeom prst="rect">
            <a:avLst/>
          </a:prstGeom>
          <a:noFill/>
        </p:spPr>
        <p:txBody>
          <a:bodyPr wrap="square" lIns="0" rIns="0" tIns="0" bIns="0">
            <a:spAutoFit/>
          </a:bodyPr>
          <a:lstStyle/>
          <a:p>
            <a:pPr algn="l">
              <a:lnSpc>
                <a:spcPct val="70000"/>
              </a:lnSpc>
              <a:defRPr i="0" sz="4800" b="1">
                <a:solidFill>
                  <a:srgbClr val="BFF4FF"/>
                </a:solidFill>
                <a:latin typeface="Albert Sans"/>
              </a:defRPr>
            </a:pPr>
            <a:r>
              <a:rPr i="0" sz="4800" b="1">
                <a:solidFill>
                  <a:srgbClr val="BFF4FF"/>
                </a:solidFill>
                <a:latin typeface="Albert Sans"/>
              </a:rPr>
              <a:t>02</a:t>
            </a:r>
          </a:p>
        </p:txBody>
      </p:sp>
      <p:sp>
        <p:nvSpPr>
          <p:cNvPr id="8" name="TextBox 7"/>
          <p:cNvSpPr txBox="1"/>
          <p:nvPr/>
        </p:nvSpPr>
        <p:spPr>
          <a:xfrm>
            <a:off x="9461500" y="1282700"/>
            <a:ext cx="6159500" cy="330200"/>
          </a:xfrm>
          <a:prstGeom prst="rect">
            <a:avLst/>
          </a:prstGeom>
          <a:noFill/>
        </p:spPr>
        <p:txBody>
          <a:bodyPr wrap="square" lIns="0" rIns="0" tIns="0" bIns="0">
            <a:spAutoFit/>
          </a:bodyPr>
          <a:lstStyle/>
          <a:p>
            <a:pPr algn="l">
              <a:defRPr i="0" sz="2200" b="1">
                <a:solidFill>
                  <a:srgbClr val="111827"/>
                </a:solidFill>
                <a:latin typeface="Albert Sans"/>
              </a:defRPr>
            </a:pPr>
            <a:r>
              <a:rPr i="0" sz="2200" b="1">
                <a:solidFill>
                  <a:srgbClr val="111827"/>
                </a:solidFill>
                <a:latin typeface="Albert Sans"/>
              </a:rPr>
              <a:t>Initial Relief &amp; Reform</a:t>
            </a:r>
          </a:p>
        </p:txBody>
      </p:sp>
      <p:sp>
        <p:nvSpPr>
          <p:cNvPr id="9" name="TextBox 8"/>
          <p:cNvSpPr txBox="1"/>
          <p:nvPr/>
        </p:nvSpPr>
        <p:spPr>
          <a:xfrm>
            <a:off x="9461500" y="1714500"/>
            <a:ext cx="6159500" cy="2794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Addressed unemployment, poverty, and economic stabilization.</a:t>
            </a:r>
          </a:p>
        </p:txBody>
      </p:sp>
      <p:sp>
        <p:nvSpPr>
          <p:cNvPr id="10" name="Rounded Rectangle 9"/>
          <p:cNvSpPr/>
          <p:nvPr/>
        </p:nvSpPr>
        <p:spPr>
          <a:xfrm>
            <a:off x="8407400" y="2209800"/>
            <a:ext cx="7188200" cy="12700"/>
          </a:xfrm>
          <a:prstGeom prst="roundRect">
            <a:avLst>
              <a:gd name="adj" fmla="val 400000"/>
            </a:avLst>
          </a:prstGeom>
          <a:solidFill>
            <a:srgbClr val="3B82F6">
              <a:alpha val="1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609600" y="8470900"/>
            <a:ext cx="18288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ushistory.gov/newdeal</a:t>
            </a:r>
          </a:p>
        </p:txBody>
      </p:sp>
      <p:sp>
        <p:nvSpPr>
          <p:cNvPr id="12" name="Rounded Rectangle 11"/>
          <p:cNvSpPr/>
          <p:nvPr/>
        </p:nvSpPr>
        <p:spPr>
          <a:xfrm>
            <a:off x="2717800" y="8597900"/>
            <a:ext cx="129286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ounded Rectangle 12"/>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101600"/>
            <a:ext cx="7950200" cy="7493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The New Deal's Impact</a:t>
            </a:r>
          </a:p>
        </p:txBody>
      </p:sp>
      <p:sp>
        <p:nvSpPr>
          <p:cNvPr id="3" name="TextBox 2"/>
          <p:cNvSpPr txBox="1"/>
          <p:nvPr/>
        </p:nvSpPr>
        <p:spPr>
          <a:xfrm>
            <a:off x="9042400" y="101600"/>
            <a:ext cx="6629400" cy="6096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FDR's New Deal programs (1933-1939) laid the groundwork for recovery.</a:t>
            </a:r>
          </a:p>
        </p:txBody>
      </p:sp>
      <p:sp>
        <p:nvSpPr>
          <p:cNvPr id="4" name="TextBox 3"/>
          <p:cNvSpPr txBox="1"/>
          <p:nvPr/>
        </p:nvSpPr>
        <p:spPr>
          <a:xfrm>
            <a:off x="9042400" y="812800"/>
            <a:ext cx="6629400" cy="850900"/>
          </a:xfrm>
          <a:prstGeom prst="rect">
            <a:avLst/>
          </a:prstGeom>
          <a:noFill/>
        </p:spPr>
        <p:txBody>
          <a:bodyPr wrap="square" lIns="0" rIns="0" tIns="0" bIns="0">
            <a:spAutoFit/>
          </a:bodyPr>
          <a:lstStyle/>
          <a:p>
            <a:pPr algn="l">
              <a:lnSpc>
                <a:spcPct val="130000"/>
              </a:lnSpc>
              <a:defRPr i="0" sz="1400" b="0">
                <a:solidFill>
                  <a:srgbClr val="6B7280"/>
                </a:solidFill>
                <a:latin typeface="Albert Sans"/>
              </a:defRPr>
            </a:pPr>
            <a:r>
              <a:rPr i="0" sz="1400" b="0">
                <a:solidFill>
                  <a:srgbClr val="6B7280"/>
                </a:solidFill>
                <a:latin typeface="Albert Sans"/>
              </a:rPr>
              <a:t>While not fully ending the depression, these policies significantly reduced unemployment from its 1933 peak of 24.9% and stabilized the financial system, creating a crucial foundation for future growth.</a:t>
            </a:r>
          </a:p>
        </p:txBody>
      </p:sp>
      <p:sp>
        <p:nvSpPr>
          <p:cNvPr id="5" name="Rounded Rectangle 4"/>
          <p:cNvSpPr/>
          <p:nvPr/>
        </p:nvSpPr>
        <p:spPr>
          <a:xfrm>
            <a:off x="1549400" y="22733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31fa74b1-7058-424c-bbc2-fec6de76c21e.png"/>
          <p:cNvPicPr>
            <a:picLocks noChangeAspect="1"/>
          </p:cNvPicPr>
          <p:nvPr/>
        </p:nvPicPr>
        <p:blipFill>
          <a:blip r:embed="rId3"/>
          <a:stretch>
            <a:fillRect/>
          </a:stretch>
        </p:blipFill>
        <p:spPr>
          <a:xfrm>
            <a:off x="2209800" y="2933700"/>
            <a:ext cx="711200" cy="711200"/>
          </a:xfrm>
          <a:prstGeom prst="rect">
            <a:avLst/>
          </a:prstGeom>
        </p:spPr>
      </p:pic>
      <p:sp>
        <p:nvSpPr>
          <p:cNvPr id="7" name="TextBox 6"/>
          <p:cNvSpPr txBox="1"/>
          <p:nvPr/>
        </p:nvSpPr>
        <p:spPr>
          <a:xfrm>
            <a:off x="1244600" y="4559300"/>
            <a:ext cx="26670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Civilian Conservation Corps</a:t>
            </a:r>
          </a:p>
        </p:txBody>
      </p:sp>
      <p:sp>
        <p:nvSpPr>
          <p:cNvPr id="8" name="TextBox 7"/>
          <p:cNvSpPr txBox="1"/>
          <p:nvPr/>
        </p:nvSpPr>
        <p:spPr>
          <a:xfrm>
            <a:off x="914400" y="49657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Provided employment for young men in conservation, boosting morale and developing infrastructure nationwide.</a:t>
            </a:r>
          </a:p>
        </p:txBody>
      </p:sp>
      <p:sp>
        <p:nvSpPr>
          <p:cNvPr id="9" name="Rounded Rectangle 8"/>
          <p:cNvSpPr/>
          <p:nvPr/>
        </p:nvSpPr>
        <p:spPr>
          <a:xfrm>
            <a:off x="5257800" y="22733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0" name="Picture 9" descr="58891c17-9627-4ac6-a349-7666c12a2347.png"/>
          <p:cNvPicPr>
            <a:picLocks noChangeAspect="1"/>
          </p:cNvPicPr>
          <p:nvPr/>
        </p:nvPicPr>
        <p:blipFill>
          <a:blip r:embed="rId4"/>
          <a:stretch>
            <a:fillRect/>
          </a:stretch>
        </p:blipFill>
        <p:spPr>
          <a:xfrm>
            <a:off x="5918200" y="2933700"/>
            <a:ext cx="711200" cy="711200"/>
          </a:xfrm>
          <a:prstGeom prst="rect">
            <a:avLst/>
          </a:prstGeom>
        </p:spPr>
      </p:pic>
      <p:sp>
        <p:nvSpPr>
          <p:cNvPr id="11" name="TextBox 10"/>
          <p:cNvSpPr txBox="1"/>
          <p:nvPr/>
        </p:nvSpPr>
        <p:spPr>
          <a:xfrm>
            <a:off x="4927600" y="4559300"/>
            <a:ext cx="27178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Public Works Administration</a:t>
            </a:r>
          </a:p>
        </p:txBody>
      </p:sp>
      <p:sp>
        <p:nvSpPr>
          <p:cNvPr id="12" name="TextBox 11"/>
          <p:cNvSpPr txBox="1"/>
          <p:nvPr/>
        </p:nvSpPr>
        <p:spPr>
          <a:xfrm>
            <a:off x="4622800" y="49657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Funded major public construction projects, creating jobs and essential infrastructure across the nation.</a:t>
            </a:r>
          </a:p>
        </p:txBody>
      </p:sp>
      <p:sp>
        <p:nvSpPr>
          <p:cNvPr id="13" name="Rounded Rectangle 12"/>
          <p:cNvSpPr/>
          <p:nvPr/>
        </p:nvSpPr>
        <p:spPr>
          <a:xfrm>
            <a:off x="8966200" y="22733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37386623-3b54-45a5-91e9-ce2c206d418b.png"/>
          <p:cNvPicPr>
            <a:picLocks noChangeAspect="1"/>
          </p:cNvPicPr>
          <p:nvPr/>
        </p:nvPicPr>
        <p:blipFill>
          <a:blip r:embed="rId5"/>
          <a:stretch>
            <a:fillRect/>
          </a:stretch>
        </p:blipFill>
        <p:spPr>
          <a:xfrm>
            <a:off x="9626600" y="2933700"/>
            <a:ext cx="711200" cy="711200"/>
          </a:xfrm>
          <a:prstGeom prst="rect">
            <a:avLst/>
          </a:prstGeom>
        </p:spPr>
      </p:pic>
      <p:sp>
        <p:nvSpPr>
          <p:cNvPr id="15" name="TextBox 14"/>
          <p:cNvSpPr txBox="1"/>
          <p:nvPr/>
        </p:nvSpPr>
        <p:spPr>
          <a:xfrm>
            <a:off x="8674100" y="4559300"/>
            <a:ext cx="26543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Agricultural Adjustment Act</a:t>
            </a:r>
          </a:p>
        </p:txBody>
      </p:sp>
      <p:sp>
        <p:nvSpPr>
          <p:cNvPr id="16" name="TextBox 15"/>
          <p:cNvSpPr txBox="1"/>
          <p:nvPr/>
        </p:nvSpPr>
        <p:spPr>
          <a:xfrm>
            <a:off x="8331200" y="49657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Supported farmers by reducing crop surpluses to raise prices, stabilizing the agricultural sector.</a:t>
            </a:r>
          </a:p>
        </p:txBody>
      </p:sp>
      <p:sp>
        <p:nvSpPr>
          <p:cNvPr id="17" name="Rounded Rectangle 16"/>
          <p:cNvSpPr/>
          <p:nvPr/>
        </p:nvSpPr>
        <p:spPr>
          <a:xfrm>
            <a:off x="12674600" y="22733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8" name="Picture 17" descr="50b2c28a-0452-4b44-96eb-60505fa05b62.png"/>
          <p:cNvPicPr>
            <a:picLocks noChangeAspect="1"/>
          </p:cNvPicPr>
          <p:nvPr/>
        </p:nvPicPr>
        <p:blipFill>
          <a:blip r:embed="rId6"/>
          <a:stretch>
            <a:fillRect/>
          </a:stretch>
        </p:blipFill>
        <p:spPr>
          <a:xfrm>
            <a:off x="13335000" y="2933700"/>
            <a:ext cx="711200" cy="711200"/>
          </a:xfrm>
          <a:prstGeom prst="rect">
            <a:avLst/>
          </a:prstGeom>
        </p:spPr>
      </p:pic>
      <p:sp>
        <p:nvSpPr>
          <p:cNvPr id="19" name="TextBox 18"/>
          <p:cNvSpPr txBox="1"/>
          <p:nvPr/>
        </p:nvSpPr>
        <p:spPr>
          <a:xfrm>
            <a:off x="13030200" y="4559300"/>
            <a:ext cx="13335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Bank Reforms</a:t>
            </a:r>
          </a:p>
        </p:txBody>
      </p:sp>
      <p:sp>
        <p:nvSpPr>
          <p:cNvPr id="20" name="TextBox 19"/>
          <p:cNvSpPr txBox="1"/>
          <p:nvPr/>
        </p:nvSpPr>
        <p:spPr>
          <a:xfrm>
            <a:off x="12039600" y="49657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Implemented key reforms to restore public trust in the financial system and stabilize the banking sector.</a:t>
            </a:r>
          </a:p>
        </p:txBody>
      </p:sp>
      <p:sp>
        <p:nvSpPr>
          <p:cNvPr id="21" name="TextBox 20"/>
          <p:cNvSpPr txBox="1"/>
          <p:nvPr/>
        </p:nvSpPr>
        <p:spPr>
          <a:xfrm>
            <a:off x="609600" y="8470900"/>
            <a:ext cx="20447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www.history.org/newdeal</a:t>
            </a:r>
          </a:p>
        </p:txBody>
      </p:sp>
      <p:sp>
        <p:nvSpPr>
          <p:cNvPr id="22" name="Rounded Rectangle 21"/>
          <p:cNvSpPr/>
          <p:nvPr/>
        </p:nvSpPr>
        <p:spPr>
          <a:xfrm>
            <a:off x="2933700" y="8597900"/>
            <a:ext cx="127127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Rounded Rectangle 22"/>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128000" y="0"/>
            <a:ext cx="12700" cy="9144000"/>
          </a:xfrm>
          <a:prstGeom prst="roundRect">
            <a:avLst>
              <a:gd name="adj" fmla="val 400000"/>
            </a:avLst>
          </a:prstGeom>
          <a:solidFill>
            <a:srgbClr val="000000">
              <a:alpha val="1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09600" y="152400"/>
            <a:ext cx="5359400" cy="1346200"/>
          </a:xfrm>
          <a:prstGeom prst="rect">
            <a:avLst/>
          </a:prstGeom>
          <a:noFill/>
        </p:spPr>
        <p:txBody>
          <a:bodyPr wrap="square" lIns="0" rIns="0" tIns="0" bIns="0">
            <a:spAutoFit/>
          </a:bodyPr>
          <a:lstStyle/>
          <a:p>
            <a:pPr algn="l">
              <a:lnSpc>
                <a:spcPct val="80000"/>
              </a:lnSpc>
              <a:defRPr i="0" sz="4800" b="1">
                <a:solidFill>
                  <a:srgbClr val="111827"/>
                </a:solidFill>
                <a:latin typeface="Albert Sans"/>
              </a:defRPr>
            </a:pPr>
            <a:r>
              <a:rPr i="0" sz="4800" b="1">
                <a:solidFill>
                  <a:srgbClr val="111827"/>
                </a:solidFill>
                <a:latin typeface="Albert Sans"/>
              </a:rPr>
              <a:t>World War II: The Economic Catalyst</a:t>
            </a:r>
          </a:p>
        </p:txBody>
      </p:sp>
      <p:sp>
        <p:nvSpPr>
          <p:cNvPr id="4" name="Rounded Rectangle 3"/>
          <p:cNvSpPr/>
          <p:nvPr/>
        </p:nvSpPr>
        <p:spPr>
          <a:xfrm>
            <a:off x="609600" y="1968500"/>
            <a:ext cx="254000" cy="254000"/>
          </a:xfrm>
          <a:prstGeom prst="roundRect">
            <a:avLst>
              <a:gd name="adj" fmla="val 5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1016000" y="1905000"/>
            <a:ext cx="27940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War's Economic Impact</a:t>
            </a:r>
          </a:p>
        </p:txBody>
      </p:sp>
      <p:sp>
        <p:nvSpPr>
          <p:cNvPr id="6" name="TextBox 5"/>
          <p:cNvSpPr txBox="1"/>
          <p:nvPr/>
        </p:nvSpPr>
        <p:spPr>
          <a:xfrm>
            <a:off x="609600" y="2565400"/>
            <a:ext cx="4597400" cy="36576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World War II (1941-1945) proved to be the ultimate economic accelerator. Massive government spending on war production mobilized industries, creating millions of jobs. Unemployment plummeted from 14.6% in 1940 to 1.2% in 1944. Industrial output surged by 90% during the war, demonstrating the immense productive capacity of the U.S. economy and propelling it out of the depression's lingering effects.</a:t>
            </a:r>
          </a:p>
        </p:txBody>
      </p:sp>
      <p:sp>
        <p:nvSpPr>
          <p:cNvPr id="7" name="Rounded Rectangle 6"/>
          <p:cNvSpPr/>
          <p:nvPr/>
        </p:nvSpPr>
        <p:spPr>
          <a:xfrm>
            <a:off x="14478000" y="457200"/>
            <a:ext cx="2794000" cy="2794000"/>
          </a:xfrm>
          <a:prstGeom prst="roundRect">
            <a:avLst>
              <a:gd name="adj" fmla="val 50000"/>
            </a:avLst>
          </a:prstGeom>
          <a:noFill/>
          <a:ln w="12700">
            <a:solidFill>
              <a:srgbClr val="000000">
                <a:alpha val="20000"/>
              </a:srgbClr>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7327900" y="152400"/>
            <a:ext cx="8724900" cy="1701800"/>
          </a:xfrm>
          <a:prstGeom prst="roundRect">
            <a:avLst>
              <a:gd name="adj" fmla="val 13432"/>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7632700" y="406400"/>
            <a:ext cx="3111500" cy="762000"/>
          </a:xfrm>
          <a:prstGeom prst="rect">
            <a:avLst/>
          </a:prstGeom>
          <a:noFill/>
        </p:spPr>
        <p:txBody>
          <a:bodyPr wrap="square" lIns="0" rIns="0" tIns="0" bIns="0">
            <a:spAutoFit/>
          </a:bodyPr>
          <a:lstStyle/>
          <a:p>
            <a:pPr algn="l">
              <a:defRPr i="0" sz="4000" b="1">
                <a:solidFill>
                  <a:srgbClr val="111827"/>
                </a:solidFill>
                <a:latin typeface="Albert Sans"/>
              </a:defRPr>
            </a:pPr>
            <a:r>
              <a:rPr i="0" sz="4000" b="1">
                <a:solidFill>
                  <a:srgbClr val="111827"/>
                </a:solidFill>
                <a:latin typeface="Albert Sans"/>
              </a:rPr>
              <a:t>1.2%</a:t>
            </a:r>
          </a:p>
        </p:txBody>
      </p:sp>
      <p:sp>
        <p:nvSpPr>
          <p:cNvPr id="10" name="TextBox 9"/>
          <p:cNvSpPr txBox="1"/>
          <p:nvPr/>
        </p:nvSpPr>
        <p:spPr>
          <a:xfrm>
            <a:off x="10718800" y="4064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Unemployment</a:t>
            </a:r>
          </a:p>
        </p:txBody>
      </p:sp>
      <p:sp>
        <p:nvSpPr>
          <p:cNvPr id="11" name="TextBox 10"/>
          <p:cNvSpPr txBox="1"/>
          <p:nvPr/>
        </p:nvSpPr>
        <p:spPr>
          <a:xfrm>
            <a:off x="10718800" y="6604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in 1944</a:t>
            </a:r>
          </a:p>
        </p:txBody>
      </p:sp>
      <p:sp>
        <p:nvSpPr>
          <p:cNvPr id="12" name="TextBox 11"/>
          <p:cNvSpPr txBox="1"/>
          <p:nvPr/>
        </p:nvSpPr>
        <p:spPr>
          <a:xfrm>
            <a:off x="10718800" y="1117600"/>
            <a:ext cx="5054600" cy="482600"/>
          </a:xfrm>
          <a:prstGeom prst="rect">
            <a:avLst/>
          </a:prstGeom>
          <a:noFill/>
        </p:spPr>
        <p:txBody>
          <a:bodyPr wrap="square" lIns="0" rIns="0" tIns="0" bIns="0">
            <a:spAutoFit/>
          </a:bodyPr>
          <a:lstStyle/>
          <a:p>
            <a:pPr algn="l">
              <a:defRPr i="0" sz="1200" b="0">
                <a:solidFill>
                  <a:srgbClr val="6B7280"/>
                </a:solidFill>
                <a:latin typeface="Albert Sans"/>
              </a:defRPr>
            </a:pPr>
            <a:r>
              <a:rPr i="0" sz="1200" b="0">
                <a:solidFill>
                  <a:srgbClr val="6B7280"/>
                </a:solidFill>
                <a:latin typeface="Albert Sans"/>
              </a:rPr>
              <a:t>Unemployment rates drastically decreased during WWII due to massive job creation in war production, boosting economic activity.</a:t>
            </a:r>
          </a:p>
        </p:txBody>
      </p:sp>
      <p:sp>
        <p:nvSpPr>
          <p:cNvPr id="13" name="Rounded Rectangle 12"/>
          <p:cNvSpPr/>
          <p:nvPr/>
        </p:nvSpPr>
        <p:spPr>
          <a:xfrm>
            <a:off x="7327900" y="2159000"/>
            <a:ext cx="8724900" cy="1955800"/>
          </a:xfrm>
          <a:prstGeom prst="roundRect">
            <a:avLst>
              <a:gd name="adj" fmla="val 11688"/>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7632700" y="2413000"/>
            <a:ext cx="3111500" cy="762000"/>
          </a:xfrm>
          <a:prstGeom prst="rect">
            <a:avLst/>
          </a:prstGeom>
          <a:noFill/>
        </p:spPr>
        <p:txBody>
          <a:bodyPr wrap="square" lIns="0" rIns="0" tIns="0" bIns="0">
            <a:spAutoFit/>
          </a:bodyPr>
          <a:lstStyle/>
          <a:p>
            <a:pPr algn="l">
              <a:defRPr i="0" sz="4000" b="1">
                <a:solidFill>
                  <a:srgbClr val="111827"/>
                </a:solidFill>
                <a:latin typeface="Albert Sans"/>
              </a:defRPr>
            </a:pPr>
            <a:r>
              <a:rPr i="0" sz="4000" b="1">
                <a:solidFill>
                  <a:srgbClr val="111827"/>
                </a:solidFill>
                <a:latin typeface="Albert Sans"/>
              </a:rPr>
              <a:t>+90%</a:t>
            </a:r>
          </a:p>
        </p:txBody>
      </p:sp>
      <p:sp>
        <p:nvSpPr>
          <p:cNvPr id="15" name="TextBox 14"/>
          <p:cNvSpPr txBox="1"/>
          <p:nvPr/>
        </p:nvSpPr>
        <p:spPr>
          <a:xfrm>
            <a:off x="10718800" y="24130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Industrial Output</a:t>
            </a:r>
          </a:p>
        </p:txBody>
      </p:sp>
      <p:sp>
        <p:nvSpPr>
          <p:cNvPr id="16" name="TextBox 15"/>
          <p:cNvSpPr txBox="1"/>
          <p:nvPr/>
        </p:nvSpPr>
        <p:spPr>
          <a:xfrm>
            <a:off x="10718800" y="26670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Surge</a:t>
            </a:r>
          </a:p>
        </p:txBody>
      </p:sp>
      <p:sp>
        <p:nvSpPr>
          <p:cNvPr id="17" name="TextBox 16"/>
          <p:cNvSpPr txBox="1"/>
          <p:nvPr/>
        </p:nvSpPr>
        <p:spPr>
          <a:xfrm>
            <a:off x="10718800" y="3124200"/>
            <a:ext cx="5054600" cy="736600"/>
          </a:xfrm>
          <a:prstGeom prst="rect">
            <a:avLst/>
          </a:prstGeom>
          <a:noFill/>
        </p:spPr>
        <p:txBody>
          <a:bodyPr wrap="square" lIns="0" rIns="0" tIns="0" bIns="0">
            <a:spAutoFit/>
          </a:bodyPr>
          <a:lstStyle/>
          <a:p>
            <a:pPr algn="l">
              <a:lnSpc>
                <a:spcPct val="130000"/>
              </a:lnSpc>
              <a:defRPr i="0" sz="1200" b="0">
                <a:solidFill>
                  <a:srgbClr val="6B7280"/>
                </a:solidFill>
                <a:latin typeface="Albert Sans"/>
              </a:defRPr>
            </a:pPr>
            <a:r>
              <a:rPr i="0" sz="1200" b="0">
                <a:solidFill>
                  <a:srgbClr val="6B7280"/>
                </a:solidFill>
                <a:latin typeface="Albert Sans"/>
              </a:rPr>
              <a:t>Manufacturing and industrial production saw a significant increase, reflecting the mobilization of industries for war efforts and overcoming depression effects.</a:t>
            </a:r>
          </a:p>
        </p:txBody>
      </p:sp>
      <p:sp>
        <p:nvSpPr>
          <p:cNvPr id="18" name="TextBox 17"/>
          <p:cNvSpPr txBox="1"/>
          <p:nvPr/>
        </p:nvSpPr>
        <p:spPr>
          <a:xfrm>
            <a:off x="609600" y="8470900"/>
            <a:ext cx="19558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www.globalconflict.com</a:t>
            </a:r>
          </a:p>
        </p:txBody>
      </p:sp>
      <p:sp>
        <p:nvSpPr>
          <p:cNvPr id="19" name="Rounded Rectangle 18"/>
          <p:cNvSpPr/>
          <p:nvPr/>
        </p:nvSpPr>
        <p:spPr>
          <a:xfrm>
            <a:off x="2844800" y="8597900"/>
            <a:ext cx="128016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Rounded Rectangle 19"/>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128000" y="0"/>
            <a:ext cx="12700" cy="9144000"/>
          </a:xfrm>
          <a:prstGeom prst="roundRect">
            <a:avLst>
              <a:gd name="adj" fmla="val 400000"/>
            </a:avLst>
          </a:prstGeom>
          <a:solidFill>
            <a:srgbClr val="000000">
              <a:alpha val="1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09600" y="152400"/>
            <a:ext cx="5359400" cy="2006600"/>
          </a:xfrm>
          <a:prstGeom prst="rect">
            <a:avLst/>
          </a:prstGeom>
          <a:noFill/>
        </p:spPr>
        <p:txBody>
          <a:bodyPr wrap="square" lIns="0" rIns="0" tIns="0" bIns="0">
            <a:spAutoFit/>
          </a:bodyPr>
          <a:lstStyle/>
          <a:p>
            <a:pPr algn="l">
              <a:lnSpc>
                <a:spcPct val="80000"/>
              </a:lnSpc>
              <a:defRPr i="0" sz="4800" b="1">
                <a:solidFill>
                  <a:srgbClr val="111827"/>
                </a:solidFill>
                <a:latin typeface="Albert Sans"/>
              </a:defRPr>
            </a:pPr>
            <a:r>
              <a:rPr i="0" sz="4800" b="1">
                <a:solidFill>
                  <a:srgbClr val="111827"/>
                </a:solidFill>
                <a:latin typeface="Albert Sans"/>
              </a:rPr>
              <a:t>Post-War Boom: The Golden Age of Capitalism</a:t>
            </a:r>
          </a:p>
        </p:txBody>
      </p:sp>
      <p:sp>
        <p:nvSpPr>
          <p:cNvPr id="4" name="Rounded Rectangle 3"/>
          <p:cNvSpPr/>
          <p:nvPr/>
        </p:nvSpPr>
        <p:spPr>
          <a:xfrm>
            <a:off x="609600" y="2628900"/>
            <a:ext cx="254000" cy="254000"/>
          </a:xfrm>
          <a:prstGeom prst="roundRect">
            <a:avLst>
              <a:gd name="adj" fmla="val 5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1016000" y="2565400"/>
            <a:ext cx="31496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Post-War Economic Boom</a:t>
            </a:r>
          </a:p>
        </p:txBody>
      </p:sp>
      <p:sp>
        <p:nvSpPr>
          <p:cNvPr id="6" name="TextBox 5"/>
          <p:cNvSpPr txBox="1"/>
          <p:nvPr/>
        </p:nvSpPr>
        <p:spPr>
          <a:xfrm>
            <a:off x="609600" y="3225800"/>
            <a:ext cx="4597400" cy="25654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The post-WWII era saw unprecedented economic growth, often called the 'Golden Age.' The G.I. Bill supported returning soldiers, driving a housing and consumption boom. This led to a significant expansion of the middle class with increased consumer spending and rising real wages.</a:t>
            </a:r>
          </a:p>
        </p:txBody>
      </p:sp>
      <p:sp>
        <p:nvSpPr>
          <p:cNvPr id="7" name="Rounded Rectangle 6"/>
          <p:cNvSpPr/>
          <p:nvPr/>
        </p:nvSpPr>
        <p:spPr>
          <a:xfrm>
            <a:off x="14478000" y="457200"/>
            <a:ext cx="2794000" cy="2794000"/>
          </a:xfrm>
          <a:prstGeom prst="roundRect">
            <a:avLst>
              <a:gd name="adj" fmla="val 50000"/>
            </a:avLst>
          </a:prstGeom>
          <a:noFill/>
          <a:ln w="12700">
            <a:solidFill>
              <a:srgbClr val="000000">
                <a:alpha val="20000"/>
              </a:srgbClr>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7327900" y="152400"/>
            <a:ext cx="8724900" cy="1701800"/>
          </a:xfrm>
          <a:prstGeom prst="roundRect">
            <a:avLst>
              <a:gd name="adj" fmla="val 13432"/>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7632700" y="406400"/>
            <a:ext cx="3111500" cy="762000"/>
          </a:xfrm>
          <a:prstGeom prst="rect">
            <a:avLst/>
          </a:prstGeom>
          <a:noFill/>
        </p:spPr>
        <p:txBody>
          <a:bodyPr wrap="square" lIns="0" rIns="0" tIns="0" bIns="0">
            <a:spAutoFit/>
          </a:bodyPr>
          <a:lstStyle/>
          <a:p>
            <a:pPr algn="l">
              <a:defRPr i="0" sz="4000" b="1">
                <a:solidFill>
                  <a:srgbClr val="111827"/>
                </a:solidFill>
                <a:latin typeface="Albert Sans"/>
              </a:defRPr>
            </a:pPr>
            <a:r>
              <a:rPr i="0" sz="4000" b="1">
                <a:solidFill>
                  <a:srgbClr val="111827"/>
                </a:solidFill>
                <a:latin typeface="Albert Sans"/>
              </a:rPr>
              <a:t>4%</a:t>
            </a:r>
          </a:p>
        </p:txBody>
      </p:sp>
      <p:sp>
        <p:nvSpPr>
          <p:cNvPr id="10" name="TextBox 9"/>
          <p:cNvSpPr txBox="1"/>
          <p:nvPr/>
        </p:nvSpPr>
        <p:spPr>
          <a:xfrm>
            <a:off x="10718800" y="4064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Avg. Real GDP Growth</a:t>
            </a:r>
          </a:p>
        </p:txBody>
      </p:sp>
      <p:sp>
        <p:nvSpPr>
          <p:cNvPr id="11" name="TextBox 10"/>
          <p:cNvSpPr txBox="1"/>
          <p:nvPr/>
        </p:nvSpPr>
        <p:spPr>
          <a:xfrm>
            <a:off x="10718800" y="6604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1945-1970</a:t>
            </a:r>
          </a:p>
        </p:txBody>
      </p:sp>
      <p:sp>
        <p:nvSpPr>
          <p:cNvPr id="12" name="TextBox 11"/>
          <p:cNvSpPr txBox="1"/>
          <p:nvPr/>
        </p:nvSpPr>
        <p:spPr>
          <a:xfrm>
            <a:off x="10718800" y="1117600"/>
            <a:ext cx="5054600" cy="482600"/>
          </a:xfrm>
          <a:prstGeom prst="rect">
            <a:avLst/>
          </a:prstGeom>
          <a:noFill/>
        </p:spPr>
        <p:txBody>
          <a:bodyPr wrap="square" lIns="0" rIns="0" tIns="0" bIns="0">
            <a:spAutoFit/>
          </a:bodyPr>
          <a:lstStyle/>
          <a:p>
            <a:pPr algn="l">
              <a:defRPr i="0" sz="1200" b="0">
                <a:solidFill>
                  <a:srgbClr val="6B7280"/>
                </a:solidFill>
                <a:latin typeface="Albert Sans"/>
              </a:defRPr>
            </a:pPr>
            <a:r>
              <a:rPr i="0" sz="1200" b="0">
                <a:solidFill>
                  <a:srgbClr val="6B7280"/>
                </a:solidFill>
                <a:latin typeface="Albert Sans"/>
              </a:rPr>
              <a:t>The post-WWII period experienced remarkable average annual real GDP growth, fostering widespread prosperity and economic stability.</a:t>
            </a:r>
          </a:p>
        </p:txBody>
      </p:sp>
      <p:sp>
        <p:nvSpPr>
          <p:cNvPr id="13" name="TextBox 12"/>
          <p:cNvSpPr txBox="1"/>
          <p:nvPr/>
        </p:nvSpPr>
        <p:spPr>
          <a:xfrm>
            <a:off x="609600" y="8470900"/>
            <a:ext cx="22225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www.economic-history.org</a:t>
            </a:r>
          </a:p>
        </p:txBody>
      </p:sp>
      <p:sp>
        <p:nvSpPr>
          <p:cNvPr id="14" name="Rounded Rectangle 13"/>
          <p:cNvSpPr/>
          <p:nvPr/>
        </p:nvSpPr>
        <p:spPr>
          <a:xfrm>
            <a:off x="3111500" y="8597900"/>
            <a:ext cx="125349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Rounded Rectangle 14"/>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101600"/>
            <a:ext cx="79502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Key Economic Policies &amp; Institutions</a:t>
            </a:r>
          </a:p>
        </p:txBody>
      </p:sp>
      <p:sp>
        <p:nvSpPr>
          <p:cNvPr id="3" name="TextBox 2"/>
          <p:cNvSpPr txBox="1"/>
          <p:nvPr/>
        </p:nvSpPr>
        <p:spPr>
          <a:xfrm>
            <a:off x="9042400" y="101600"/>
            <a:ext cx="66294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Forging Post-War Economic Stability</a:t>
            </a:r>
          </a:p>
        </p:txBody>
      </p:sp>
      <p:sp>
        <p:nvSpPr>
          <p:cNvPr id="4" name="TextBox 3"/>
          <p:cNvSpPr txBox="1"/>
          <p:nvPr/>
        </p:nvSpPr>
        <p:spPr>
          <a:xfrm>
            <a:off x="9042400" y="508000"/>
            <a:ext cx="6629400" cy="1143000"/>
          </a:xfrm>
          <a:prstGeom prst="rect">
            <a:avLst/>
          </a:prstGeom>
          <a:noFill/>
        </p:spPr>
        <p:txBody>
          <a:bodyPr wrap="square" lIns="0" rIns="0" tIns="0" bIns="0">
            <a:spAutoFit/>
          </a:bodyPr>
          <a:lstStyle/>
          <a:p>
            <a:pPr algn="l">
              <a:lnSpc>
                <a:spcPct val="130000"/>
              </a:lnSpc>
              <a:defRPr i="0" sz="1400" b="0">
                <a:solidFill>
                  <a:srgbClr val="6B7280"/>
                </a:solidFill>
                <a:latin typeface="Albert Sans"/>
              </a:defRPr>
            </a:pPr>
            <a:r>
              <a:rPr i="0" sz="1400" b="0">
                <a:solidFill>
                  <a:srgbClr val="6B7280"/>
                </a:solidFill>
                <a:latin typeface="Albert Sans"/>
              </a:rPr>
              <a:t>The post-Depression and World War II era led to the establishment of crucial global and domestic economic frameworks. These initiatives were designed to stabilize international finance, facilitate reconstruction, and enhance national human capital, laying the groundwork for sustained economic development.</a:t>
            </a:r>
          </a:p>
        </p:txBody>
      </p:sp>
      <p:sp>
        <p:nvSpPr>
          <p:cNvPr id="5" name="Rounded Rectangle 4"/>
          <p:cNvSpPr/>
          <p:nvPr/>
        </p:nvSpPr>
        <p:spPr>
          <a:xfrm>
            <a:off x="3403600" y="22606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ea1ceb69-3bb5-4279-900b-9885bb2182ef.png"/>
          <p:cNvPicPr>
            <a:picLocks noChangeAspect="1"/>
          </p:cNvPicPr>
          <p:nvPr/>
        </p:nvPicPr>
        <p:blipFill>
          <a:blip r:embed="rId3"/>
          <a:stretch>
            <a:fillRect/>
          </a:stretch>
        </p:blipFill>
        <p:spPr>
          <a:xfrm>
            <a:off x="4064000" y="2921000"/>
            <a:ext cx="711200" cy="711200"/>
          </a:xfrm>
          <a:prstGeom prst="rect">
            <a:avLst/>
          </a:prstGeom>
        </p:spPr>
      </p:pic>
      <p:sp>
        <p:nvSpPr>
          <p:cNvPr id="7" name="TextBox 6"/>
          <p:cNvSpPr txBox="1"/>
          <p:nvPr/>
        </p:nvSpPr>
        <p:spPr>
          <a:xfrm>
            <a:off x="2806700" y="4546600"/>
            <a:ext cx="32639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International Monetary Fund (IMF)</a:t>
            </a:r>
          </a:p>
        </p:txBody>
      </p:sp>
      <p:sp>
        <p:nvSpPr>
          <p:cNvPr id="8" name="TextBox 7"/>
          <p:cNvSpPr txBox="1"/>
          <p:nvPr/>
        </p:nvSpPr>
        <p:spPr>
          <a:xfrm>
            <a:off x="2768600" y="4953000"/>
            <a:ext cx="3327400" cy="10541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Established by the Bretton Woods Agreement in 1944. Its primary role is to stabilize international exchange rates and provide financial assistance to countries.</a:t>
            </a:r>
          </a:p>
        </p:txBody>
      </p:sp>
      <p:sp>
        <p:nvSpPr>
          <p:cNvPr id="9" name="Rounded Rectangle 8"/>
          <p:cNvSpPr/>
          <p:nvPr/>
        </p:nvSpPr>
        <p:spPr>
          <a:xfrm>
            <a:off x="7112000" y="22606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0" name="Picture 9" descr="50b2c28a-0452-4b44-96eb-60505fa05b62.png"/>
          <p:cNvPicPr>
            <a:picLocks noChangeAspect="1"/>
          </p:cNvPicPr>
          <p:nvPr/>
        </p:nvPicPr>
        <p:blipFill>
          <a:blip r:embed="rId4"/>
          <a:stretch>
            <a:fillRect/>
          </a:stretch>
        </p:blipFill>
        <p:spPr>
          <a:xfrm>
            <a:off x="7772400" y="2921000"/>
            <a:ext cx="711200" cy="711200"/>
          </a:xfrm>
          <a:prstGeom prst="rect">
            <a:avLst/>
          </a:prstGeom>
        </p:spPr>
      </p:pic>
      <p:sp>
        <p:nvSpPr>
          <p:cNvPr id="11" name="TextBox 10"/>
          <p:cNvSpPr txBox="1"/>
          <p:nvPr/>
        </p:nvSpPr>
        <p:spPr>
          <a:xfrm>
            <a:off x="7581900" y="4546600"/>
            <a:ext cx="11176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World Bank</a:t>
            </a:r>
          </a:p>
        </p:txBody>
      </p:sp>
      <p:sp>
        <p:nvSpPr>
          <p:cNvPr id="12" name="TextBox 11"/>
          <p:cNvSpPr txBox="1"/>
          <p:nvPr/>
        </p:nvSpPr>
        <p:spPr>
          <a:xfrm>
            <a:off x="6477000" y="4953000"/>
            <a:ext cx="3327400" cy="13208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Also created under the Bretton Woods Agreement. It focuses on financing post-war reconstruction and development projects, promoting long-term economic growth globally.</a:t>
            </a:r>
          </a:p>
        </p:txBody>
      </p:sp>
      <p:sp>
        <p:nvSpPr>
          <p:cNvPr id="13" name="Rounded Rectangle 12"/>
          <p:cNvSpPr/>
          <p:nvPr/>
        </p:nvSpPr>
        <p:spPr>
          <a:xfrm>
            <a:off x="10820400" y="22606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4bda0550-8ee7-44d3-9b33-565f9a76f88a.png"/>
          <p:cNvPicPr>
            <a:picLocks noChangeAspect="1"/>
          </p:cNvPicPr>
          <p:nvPr/>
        </p:nvPicPr>
        <p:blipFill>
          <a:blip r:embed="rId5"/>
          <a:stretch>
            <a:fillRect/>
          </a:stretch>
        </p:blipFill>
        <p:spPr>
          <a:xfrm>
            <a:off x="11480800" y="2921000"/>
            <a:ext cx="711200" cy="711200"/>
          </a:xfrm>
          <a:prstGeom prst="rect">
            <a:avLst/>
          </a:prstGeom>
        </p:spPr>
      </p:pic>
      <p:sp>
        <p:nvSpPr>
          <p:cNvPr id="15" name="TextBox 14"/>
          <p:cNvSpPr txBox="1"/>
          <p:nvPr/>
        </p:nvSpPr>
        <p:spPr>
          <a:xfrm>
            <a:off x="11163300" y="4546600"/>
            <a:ext cx="13716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G.I. Bill (1944)</a:t>
            </a:r>
          </a:p>
        </p:txBody>
      </p:sp>
      <p:sp>
        <p:nvSpPr>
          <p:cNvPr id="16" name="TextBox 15"/>
          <p:cNvSpPr txBox="1"/>
          <p:nvPr/>
        </p:nvSpPr>
        <p:spPr>
          <a:xfrm>
            <a:off x="10185400" y="4953000"/>
            <a:ext cx="3327400" cy="13208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Provided comprehensive benefits to returning WWII veterans, including access to education, job training, and home loans, significantly boosting human capital and homeownership.</a:t>
            </a:r>
          </a:p>
        </p:txBody>
      </p:sp>
      <p:sp>
        <p:nvSpPr>
          <p:cNvPr id="17" name="TextBox 16"/>
          <p:cNvSpPr txBox="1"/>
          <p:nvPr/>
        </p:nvSpPr>
        <p:spPr>
          <a:xfrm>
            <a:off x="609600" y="8470900"/>
            <a:ext cx="32258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www.global-economic-foundations.org</a:t>
            </a:r>
          </a:p>
        </p:txBody>
      </p:sp>
      <p:sp>
        <p:nvSpPr>
          <p:cNvPr id="18" name="Rounded Rectangle 17"/>
          <p:cNvSpPr/>
          <p:nvPr/>
        </p:nvSpPr>
        <p:spPr>
          <a:xfrm>
            <a:off x="4114800" y="8597900"/>
            <a:ext cx="115316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203200"/>
            <a:ext cx="7239000" cy="7493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Long-Term Legacies</a:t>
            </a:r>
          </a:p>
        </p:txBody>
      </p:sp>
      <p:sp>
        <p:nvSpPr>
          <p:cNvPr id="3" name="TextBox 2"/>
          <p:cNvSpPr txBox="1"/>
          <p:nvPr/>
        </p:nvSpPr>
        <p:spPr>
          <a:xfrm>
            <a:off x="609600" y="1460500"/>
            <a:ext cx="6629400" cy="21971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The period fundamentally reshaped the American economic landscape, solidifying the federal government's role in economic management and welfare provision. This led to the establishment of the modern social safety net, including Social Security, and increased financial regulation to prevent future crises, establishing a mixed economy with greater oversight.</a:t>
            </a:r>
          </a:p>
        </p:txBody>
      </p:sp>
      <p:sp>
        <p:nvSpPr>
          <p:cNvPr id="4" name="TextBox 3"/>
          <p:cNvSpPr txBox="1"/>
          <p:nvPr/>
        </p:nvSpPr>
        <p:spPr>
          <a:xfrm>
            <a:off x="8331200" y="2032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Expanded Government Role</a:t>
            </a:r>
          </a:p>
        </p:txBody>
      </p:sp>
      <p:sp>
        <p:nvSpPr>
          <p:cNvPr id="5" name="TextBox 4"/>
          <p:cNvSpPr txBox="1"/>
          <p:nvPr/>
        </p:nvSpPr>
        <p:spPr>
          <a:xfrm>
            <a:off x="8331200" y="812800"/>
            <a:ext cx="78486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The federal government's involvement in economic management and social welfare significantly increased. This shift established a precedent for federal intervention to stabilize markets and support citizens during economic downturns.</a:t>
            </a:r>
          </a:p>
        </p:txBody>
      </p:sp>
      <p:sp>
        <p:nvSpPr>
          <p:cNvPr id="6" name="TextBox 5"/>
          <p:cNvSpPr txBox="1"/>
          <p:nvPr/>
        </p:nvSpPr>
        <p:spPr>
          <a:xfrm>
            <a:off x="8331200" y="22098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Modern Social Safety Net</a:t>
            </a:r>
          </a:p>
        </p:txBody>
      </p:sp>
      <p:sp>
        <p:nvSpPr>
          <p:cNvPr id="7" name="TextBox 6"/>
          <p:cNvSpPr txBox="1"/>
          <p:nvPr/>
        </p:nvSpPr>
        <p:spPr>
          <a:xfrm>
            <a:off x="8331200" y="2819400"/>
            <a:ext cx="78486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Key programs like Social Security were established, providing crucial support for the elderly and unemployed. This laid the foundation for comprehensive welfare provisions, fundamentally altering the relationship between citizens and the state.</a:t>
            </a:r>
          </a:p>
        </p:txBody>
      </p:sp>
      <p:sp>
        <p:nvSpPr>
          <p:cNvPr id="8" name="TextBox 7"/>
          <p:cNvSpPr txBox="1"/>
          <p:nvPr/>
        </p:nvSpPr>
        <p:spPr>
          <a:xfrm>
            <a:off x="8331200" y="42291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Enhanced Financial Regulation</a:t>
            </a:r>
          </a:p>
        </p:txBody>
      </p:sp>
      <p:sp>
        <p:nvSpPr>
          <p:cNvPr id="9" name="TextBox 8"/>
          <p:cNvSpPr txBox="1"/>
          <p:nvPr/>
        </p:nvSpPr>
        <p:spPr>
          <a:xfrm>
            <a:off x="8331200" y="4838700"/>
            <a:ext cx="7848600" cy="14605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New regulations were implemented to oversee financial markets and banking practices, aiming to prevent the speculative excesses that contributed to the crisis. This sought to ensure greater stability and protect the broader economy from systemic risks.</a:t>
            </a:r>
          </a:p>
        </p:txBody>
      </p:sp>
      <p:sp>
        <p:nvSpPr>
          <p:cNvPr id="10" name="TextBox 9"/>
          <p:cNvSpPr txBox="1"/>
          <p:nvPr/>
        </p:nvSpPr>
        <p:spPr>
          <a:xfrm>
            <a:off x="8331200" y="66040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Foundations of a Mixed Economy</a:t>
            </a:r>
          </a:p>
        </p:txBody>
      </p:sp>
      <p:sp>
        <p:nvSpPr>
          <p:cNvPr id="11" name="TextBox 10"/>
          <p:cNvSpPr txBox="1"/>
          <p:nvPr/>
        </p:nvSpPr>
        <p:spPr>
          <a:xfrm>
            <a:off x="8331200" y="7213600"/>
            <a:ext cx="7848600" cy="14605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The economic landscape evolved into a mixed economy, blending private enterprise with significant government oversight and public welfare initiatives. This balanced approach aimed to harness market strengths while mitigating inherent instabilities and social inequalities.</a:t>
            </a:r>
          </a:p>
        </p:txBody>
      </p:sp>
      <p:sp>
        <p:nvSpPr>
          <p:cNvPr id="12" name="TextBox 11"/>
          <p:cNvSpPr txBox="1"/>
          <p:nvPr/>
        </p:nvSpPr>
        <p:spPr>
          <a:xfrm>
            <a:off x="609600" y="8470900"/>
            <a:ext cx="22733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www.economic-impact.gov</a:t>
            </a:r>
          </a:p>
        </p:txBody>
      </p:sp>
      <p:sp>
        <p:nvSpPr>
          <p:cNvPr id="13" name="Rounded Rectangle 12"/>
          <p:cNvSpPr/>
          <p:nvPr/>
        </p:nvSpPr>
        <p:spPr>
          <a:xfrm>
            <a:off x="3162300" y="8597900"/>
            <a:ext cx="124841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ounded Rectangle 13"/>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43233c2-bc28-45b5-ad36-74c54ed1cd12.png"/>
          <p:cNvPicPr>
            <a:picLocks noChangeAspect="1"/>
          </p:cNvPicPr>
          <p:nvPr/>
        </p:nvPicPr>
        <p:blipFill>
          <a:blip r:embed="rId3"/>
          <a:stretch>
            <a:fillRect/>
          </a:stretch>
        </p:blipFill>
        <p:spPr>
          <a:xfrm>
            <a:off x="10401300" y="0"/>
            <a:ext cx="5854700" cy="6604000"/>
          </a:xfrm>
          <a:prstGeom prst="rect">
            <a:avLst/>
          </a:prstGeom>
        </p:spPr>
      </p:pic>
      <p:sp>
        <p:nvSpPr>
          <p:cNvPr id="3" name="Rounded Rectangle 2"/>
          <p:cNvSpPr/>
          <p:nvPr/>
        </p:nvSpPr>
        <p:spPr>
          <a:xfrm>
            <a:off x="9893300" y="3810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Rounded Rectangle 3"/>
          <p:cNvSpPr/>
          <p:nvPr/>
        </p:nvSpPr>
        <p:spPr>
          <a:xfrm>
            <a:off x="9893300" y="6858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a:off x="9893300" y="9906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9600" y="406400"/>
            <a:ext cx="8750300" cy="2565400"/>
          </a:xfrm>
          <a:prstGeom prst="rect">
            <a:avLst/>
          </a:prstGeom>
          <a:noFill/>
        </p:spPr>
        <p:txBody>
          <a:bodyPr wrap="square" lIns="0" rIns="0" tIns="0" bIns="0">
            <a:spAutoFit/>
          </a:bodyPr>
          <a:lstStyle/>
          <a:p>
            <a:pPr algn="l">
              <a:lnSpc>
                <a:spcPct val="75000"/>
              </a:lnSpc>
              <a:defRPr i="0" sz="6400" b="1">
                <a:solidFill>
                  <a:srgbClr val="111827"/>
                </a:solidFill>
                <a:latin typeface="Albert Sans"/>
              </a:defRPr>
            </a:pPr>
            <a:r>
              <a:rPr i="0" sz="6400" b="1">
                <a:solidFill>
                  <a:srgbClr val="111827"/>
                </a:solidFill>
                <a:latin typeface="Albert Sans"/>
              </a:rPr>
              <a:t>Conclusion: A Transformed Economic Landscape</a:t>
            </a:r>
          </a:p>
        </p:txBody>
      </p:sp>
      <p:sp>
        <p:nvSpPr>
          <p:cNvPr id="7" name="TextBox 6"/>
          <p:cNvSpPr txBox="1"/>
          <p:nvPr/>
        </p:nvSpPr>
        <p:spPr>
          <a:xfrm>
            <a:off x="609600" y="3225800"/>
            <a:ext cx="7899400" cy="1625600"/>
          </a:xfrm>
          <a:prstGeom prst="rect">
            <a:avLst/>
          </a:prstGeom>
          <a:noFill/>
        </p:spPr>
        <p:txBody>
          <a:bodyPr wrap="square" lIns="0" rIns="0" tIns="0" bIns="0">
            <a:spAutoFit/>
          </a:bodyPr>
          <a:lstStyle/>
          <a:p>
            <a:pPr algn="l">
              <a:lnSpc>
                <a:spcPct val="130000"/>
              </a:lnSpc>
              <a:defRPr i="0" sz="1600" b="0">
                <a:solidFill>
                  <a:srgbClr val="6B7280"/>
                </a:solidFill>
                <a:latin typeface="Albert Sans"/>
              </a:defRPr>
            </a:pPr>
            <a:r>
              <a:rPr i="0" sz="1600" b="0">
                <a:solidFill>
                  <a:srgbClr val="6B7280"/>
                </a:solidFill>
                <a:latin typeface="Albert Sans"/>
              </a:rPr>
              <a:t>America's journey from the Great Depression to post-war prosperity was a monumental transformation. It demonstrated the power of government intervention, the catalytic effect of wartime production, and an era of unprecedented growth. These legacies influence the U.S. economy and social fabric today.</a:t>
            </a:r>
          </a:p>
        </p:txBody>
      </p:sp>
      <p:sp>
        <p:nvSpPr>
          <p:cNvPr id="8" name="Rounded Rectangle 7"/>
          <p:cNvSpPr/>
          <p:nvPr/>
        </p:nvSpPr>
        <p:spPr>
          <a:xfrm>
            <a:off x="609600" y="5156200"/>
            <a:ext cx="4178300" cy="635000"/>
          </a:xfrm>
          <a:prstGeom prst="roundRect">
            <a:avLst>
              <a:gd name="adj" fmla="val 8000"/>
            </a:avLst>
          </a:prstGeom>
          <a:solidFill>
            <a:srgbClr val="BFF4FF"/>
          </a:solidFill>
          <a:ln w="12700">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ounded Rectangle 8"/>
          <p:cNvSpPr/>
          <p:nvPr/>
        </p:nvSpPr>
        <p:spPr>
          <a:xfrm>
            <a:off x="825500" y="5321300"/>
            <a:ext cx="101600" cy="304800"/>
          </a:xfrm>
          <a:prstGeom prst="roundRect">
            <a:avLst>
              <a:gd name="adj" fmla="val 5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130300" y="5321300"/>
            <a:ext cx="25273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Economic Transformations</a:t>
            </a:r>
          </a:p>
        </p:txBody>
      </p:sp>
      <p:sp>
        <p:nvSpPr>
          <p:cNvPr id="11" name="TextBox 10"/>
          <p:cNvSpPr txBox="1"/>
          <p:nvPr/>
        </p:nvSpPr>
        <p:spPr>
          <a:xfrm>
            <a:off x="3784600" y="5346700"/>
            <a:ext cx="8128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Feb 2026</a:t>
            </a:r>
          </a:p>
        </p:txBody>
      </p:sp>
      <p:sp>
        <p:nvSpPr>
          <p:cNvPr id="12" name="TextBox 11"/>
          <p:cNvSpPr txBox="1"/>
          <p:nvPr/>
        </p:nvSpPr>
        <p:spPr>
          <a:xfrm>
            <a:off x="609600" y="8470900"/>
            <a:ext cx="25908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www.us-economic-history.com</a:t>
            </a:r>
          </a:p>
        </p:txBody>
      </p:sp>
      <p:sp>
        <p:nvSpPr>
          <p:cNvPr id="13" name="Rounded Rectangle 12"/>
          <p:cNvSpPr/>
          <p:nvPr/>
        </p:nvSpPr>
        <p:spPr>
          <a:xfrm>
            <a:off x="3479800" y="8597900"/>
            <a:ext cx="12166600" cy="25400"/>
          </a:xfrm>
          <a:prstGeom prst="roundRect">
            <a:avLst>
              <a:gd name="adj" fmla="val 2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ounded Rectangle 13"/>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